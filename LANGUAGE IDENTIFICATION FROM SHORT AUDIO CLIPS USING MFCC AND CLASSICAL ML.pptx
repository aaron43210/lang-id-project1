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6858000" cy="9144000"/>
  <p:embeddedFontLst>
    <p:embeddedFont>
      <p:font typeface="Bricolage Grotesque" panose="020B0604020202020204" charset="0"/>
      <p:bold r:id="rId30"/>
    </p:embeddedFont>
    <p:embeddedFont>
      <p:font typeface="Noto Sans" panose="020B0502040504020204" pitchFamily="34" charset="0"/>
      <p:bold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Medium" panose="000006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EF7D54-86B1-46D9-81D7-0D95AAADE293}">
  <a:tblStyle styleId="{37EF7D54-86B1-46D9-81D7-0D95AAADE2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91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0.fntdata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f8b9c68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dff8b9c68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ff8b9c68f_2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dff8b9c68f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ff8b9c68f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dff8b9c68f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ff8b9c68f_2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dff8b9c68f_2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ff8b9c68f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dff8b9c68f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ff8b9c68f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dff8b9c68f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ff8b9c68f_2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dff8b9c68f_2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ff8b9c68f_2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dff8b9c68f_2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ff8b9c68f_2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3dff8b9c68f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ff8b9c68f_2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3dff8b9c68f_2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dff8b9c68f_2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g3dff8b9c68f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ff8b9c68f_2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dff8b9c68f_2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ff8b9c68f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3dff8b9c68f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ff8b9c68f_2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dff8b9c68f_2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ff8b9c68f_2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3dff8b9c68f_2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ff8b9c68f_2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3dff8b9c68f_2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ff8b9c68f_2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3dff8b9c68f_2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ff8b9c68f_2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dff8b9c68f_2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dff8b9c68f_2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g3dff8b9c68f_2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dff8b9c68f_2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3dff8b9c68f_2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ff8b9c68f_2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g3dff8b9c68f_2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ff8b9c68f_2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g3dff8b9c68f_2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dff8b9c68f_2_5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g3dff8b9c68f_2_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ff8b9c68f_2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3dff8b9c68f_2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ff8b9c68f_2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dff8b9c68f_2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dff8b9c68f_2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g3dff8b9c68f_2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hyperlink" Target="https://www.openslr.org/resources.php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3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7.pn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9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51.png"/><Relationship Id="rId4" Type="http://schemas.openxmlformats.org/officeDocument/2006/relationships/image" Target="../media/image5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3.jp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52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3737194" y="48450"/>
            <a:ext cx="1787136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-1004446" y="1635695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0" y="0"/>
                </a:lnTo>
                <a:lnTo>
                  <a:pt x="5066690" y="5066691"/>
                </a:lnTo>
                <a:lnTo>
                  <a:pt x="0" y="5066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25"/>
          <p:cNvGrpSpPr/>
          <p:nvPr/>
        </p:nvGrpSpPr>
        <p:grpSpPr>
          <a:xfrm>
            <a:off x="8178151" y="-4341466"/>
            <a:ext cx="1058129" cy="9596894"/>
            <a:chOff x="0" y="-38100"/>
            <a:chExt cx="557368" cy="5055154"/>
          </a:xfrm>
        </p:grpSpPr>
        <p:sp>
          <p:nvSpPr>
            <p:cNvPr id="132" name="Google Shape;132;p25"/>
            <p:cNvSpPr/>
            <p:nvPr/>
          </p:nvSpPr>
          <p:spPr>
            <a:xfrm>
              <a:off x="0" y="0"/>
              <a:ext cx="557368" cy="5017054"/>
            </a:xfrm>
            <a:custGeom>
              <a:avLst/>
              <a:gdLst/>
              <a:ahLst/>
              <a:cxnLst/>
              <a:rect l="l" t="t" r="r" b="b"/>
              <a:pathLst>
                <a:path w="557368" h="5017054" extrusionOk="0">
                  <a:moveTo>
                    <a:pt x="0" y="0"/>
                  </a:moveTo>
                  <a:lnTo>
                    <a:pt x="557368" y="0"/>
                  </a:lnTo>
                  <a:lnTo>
                    <a:pt x="557368" y="5017054"/>
                  </a:lnTo>
                  <a:lnTo>
                    <a:pt x="0" y="5017054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133" name="Google Shape;133;p25"/>
            <p:cNvSpPr txBox="1"/>
            <p:nvPr/>
          </p:nvSpPr>
          <p:spPr>
            <a:xfrm>
              <a:off x="0" y="-38100"/>
              <a:ext cx="557368" cy="5055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25"/>
          <p:cNvSpPr/>
          <p:nvPr/>
        </p:nvSpPr>
        <p:spPr>
          <a:xfrm>
            <a:off x="5744049" y="1044897"/>
            <a:ext cx="3288962" cy="2055201"/>
          </a:xfrm>
          <a:custGeom>
            <a:avLst/>
            <a:gdLst/>
            <a:ahLst/>
            <a:cxnLst/>
            <a:rect l="l" t="t" r="r" b="b"/>
            <a:pathLst>
              <a:path w="1197388" h="748222" extrusionOk="0">
                <a:moveTo>
                  <a:pt x="0" y="0"/>
                </a:moveTo>
                <a:lnTo>
                  <a:pt x="1197388" y="0"/>
                </a:lnTo>
                <a:lnTo>
                  <a:pt x="1197388" y="748222"/>
                </a:lnTo>
                <a:lnTo>
                  <a:pt x="0" y="7482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r="-56833" b="-67319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5" name="Google Shape;135;p25"/>
          <p:cNvSpPr/>
          <p:nvPr/>
        </p:nvSpPr>
        <p:spPr>
          <a:xfrm>
            <a:off x="5744049" y="3144313"/>
            <a:ext cx="3288962" cy="1293461"/>
          </a:xfrm>
          <a:custGeom>
            <a:avLst/>
            <a:gdLst/>
            <a:ahLst/>
            <a:cxnLst/>
            <a:rect l="l" t="t" r="r" b="b"/>
            <a:pathLst>
              <a:path w="1197388" h="470901" extrusionOk="0">
                <a:moveTo>
                  <a:pt x="0" y="0"/>
                </a:moveTo>
                <a:lnTo>
                  <a:pt x="1197388" y="0"/>
                </a:lnTo>
                <a:lnTo>
                  <a:pt x="1197388" y="470901"/>
                </a:lnTo>
                <a:lnTo>
                  <a:pt x="0" y="47090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65449" r="-56590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6" name="Google Shape;136;p25"/>
          <p:cNvSpPr/>
          <p:nvPr/>
        </p:nvSpPr>
        <p:spPr>
          <a:xfrm>
            <a:off x="6132694" y="2673432"/>
            <a:ext cx="2640135" cy="591347"/>
          </a:xfrm>
          <a:custGeom>
            <a:avLst/>
            <a:gdLst/>
            <a:ahLst/>
            <a:cxnLst/>
            <a:rect l="l" t="t" r="r" b="b"/>
            <a:pathLst>
              <a:path w="5280270" h="1182693" extrusionOk="0">
                <a:moveTo>
                  <a:pt x="0" y="0"/>
                </a:moveTo>
                <a:lnTo>
                  <a:pt x="5280270" y="0"/>
                </a:lnTo>
                <a:lnTo>
                  <a:pt x="5280270" y="1182693"/>
                </a:lnTo>
                <a:lnTo>
                  <a:pt x="0" y="11826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5303" t="-280310" r="-80308" b="-201898"/>
            </a:stretch>
          </a:blipFill>
          <a:ln>
            <a:noFill/>
          </a:ln>
        </p:spPr>
      </p:sp>
      <p:sp>
        <p:nvSpPr>
          <p:cNvPr id="137" name="Google Shape;137;p25"/>
          <p:cNvSpPr txBox="1"/>
          <p:nvPr/>
        </p:nvSpPr>
        <p:spPr>
          <a:xfrm>
            <a:off x="163350" y="1339831"/>
            <a:ext cx="5463300" cy="18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LANGUAGE IDENTIFICATION FROM SHORT AUDIO CLIPS USING MFCC AND CLASSICAL ML </a:t>
            </a:r>
            <a:endParaRPr sz="700"/>
          </a:p>
        </p:txBody>
      </p:sp>
      <p:sp>
        <p:nvSpPr>
          <p:cNvPr id="138" name="Google Shape;138;p25"/>
          <p:cNvSpPr/>
          <p:nvPr/>
        </p:nvSpPr>
        <p:spPr>
          <a:xfrm>
            <a:off x="-108231" y="336417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139" name="Google Shape;139;p25"/>
          <p:cNvSpPr/>
          <p:nvPr/>
        </p:nvSpPr>
        <p:spPr>
          <a:xfrm rot="-5400000">
            <a:off x="4070399" y="1360432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140" name="Google Shape;140;p25"/>
          <p:cNvSpPr txBox="1"/>
          <p:nvPr/>
        </p:nvSpPr>
        <p:spPr>
          <a:xfrm>
            <a:off x="209209" y="4263149"/>
            <a:ext cx="180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AARON R  </a:t>
            </a:r>
            <a:endParaRPr sz="700"/>
          </a:p>
        </p:txBody>
      </p:sp>
      <p:sp>
        <p:nvSpPr>
          <p:cNvPr id="141" name="Google Shape;141;p25"/>
          <p:cNvSpPr txBox="1"/>
          <p:nvPr/>
        </p:nvSpPr>
        <p:spPr>
          <a:xfrm>
            <a:off x="262227" y="3696602"/>
            <a:ext cx="1319690" cy="165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Presented By:</a:t>
            </a:r>
            <a:endParaRPr sz="700"/>
          </a:p>
        </p:txBody>
      </p:sp>
      <p:sp>
        <p:nvSpPr>
          <p:cNvPr id="142" name="Google Shape;142;p25"/>
          <p:cNvSpPr txBox="1"/>
          <p:nvPr/>
        </p:nvSpPr>
        <p:spPr>
          <a:xfrm>
            <a:off x="209210" y="3998037"/>
            <a:ext cx="1319690" cy="17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 10</a:t>
            </a:r>
            <a:endParaRPr sz="700"/>
          </a:p>
        </p:txBody>
      </p:sp>
      <p:sp>
        <p:nvSpPr>
          <p:cNvPr id="143" name="Google Shape;143;p25"/>
          <p:cNvSpPr txBox="1"/>
          <p:nvPr/>
        </p:nvSpPr>
        <p:spPr>
          <a:xfrm>
            <a:off x="220084" y="4504449"/>
            <a:ext cx="180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SREEKUTTY SANTHOSH</a:t>
            </a:r>
            <a:endParaRPr sz="700"/>
          </a:p>
        </p:txBody>
      </p:sp>
      <p:sp>
        <p:nvSpPr>
          <p:cNvPr id="144" name="Google Shape;144;p25"/>
          <p:cNvSpPr txBox="1"/>
          <p:nvPr/>
        </p:nvSpPr>
        <p:spPr>
          <a:xfrm>
            <a:off x="230958" y="4745749"/>
            <a:ext cx="18039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 A SREEHAR</a:t>
            </a:r>
            <a:r>
              <a:rPr lang="en-GB" sz="1000">
                <a:solidFill>
                  <a:srgbClr val="FFFFFF"/>
                </a:solidFill>
              </a:rPr>
              <a:t>I</a:t>
            </a: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700"/>
          </a:p>
        </p:txBody>
      </p:sp>
      <p:sp>
        <p:nvSpPr>
          <p:cNvPr id="145" name="Google Shape;145;p25"/>
          <p:cNvSpPr/>
          <p:nvPr/>
        </p:nvSpPr>
        <p:spPr>
          <a:xfrm>
            <a:off x="9033012" y="971280"/>
            <a:ext cx="9425334" cy="3466495"/>
          </a:xfrm>
          <a:custGeom>
            <a:avLst/>
            <a:gdLst/>
            <a:ahLst/>
            <a:cxnLst/>
            <a:rect l="l" t="t" r="r" b="b"/>
            <a:pathLst>
              <a:path w="3431411" h="1262021" extrusionOk="0">
                <a:moveTo>
                  <a:pt x="0" y="0"/>
                </a:moveTo>
                <a:lnTo>
                  <a:pt x="3431411" y="0"/>
                </a:lnTo>
                <a:lnTo>
                  <a:pt x="3431411" y="1262021"/>
                </a:lnTo>
                <a:lnTo>
                  <a:pt x="0" y="1262021"/>
                </a:lnTo>
                <a:close/>
              </a:path>
            </a:pathLst>
          </a:custGeom>
          <a:blipFill rotWithShape="1">
            <a:blip r:embed="rId7">
              <a:alphaModFix amt="17000"/>
            </a:blip>
            <a:stretch>
              <a:fillRect t="-40632" b="-40632"/>
            </a:stretch>
          </a:blipFill>
          <a:ln>
            <a:noFill/>
          </a:ln>
        </p:spPr>
      </p:sp>
      <p:sp>
        <p:nvSpPr>
          <p:cNvPr id="146" name="Google Shape;146;p25"/>
          <p:cNvSpPr/>
          <p:nvPr/>
        </p:nvSpPr>
        <p:spPr>
          <a:xfrm>
            <a:off x="-540677" y="-906836"/>
            <a:ext cx="1787136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147" name="Google Shape;147;p25"/>
          <p:cNvSpPr/>
          <p:nvPr/>
        </p:nvSpPr>
        <p:spPr>
          <a:xfrm>
            <a:off x="5105262" y="4437774"/>
            <a:ext cx="1787136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148" name="Google Shape;148;p25"/>
          <p:cNvSpPr/>
          <p:nvPr/>
        </p:nvSpPr>
        <p:spPr>
          <a:xfrm>
            <a:off x="5744050" y="4448831"/>
            <a:ext cx="4763283" cy="943782"/>
          </a:xfrm>
          <a:custGeom>
            <a:avLst/>
            <a:gdLst/>
            <a:ahLst/>
            <a:cxnLst/>
            <a:rect l="l" t="t" r="r" b="b"/>
            <a:pathLst>
              <a:path w="1734133" h="343596" extrusionOk="0">
                <a:moveTo>
                  <a:pt x="0" y="0"/>
                </a:moveTo>
                <a:lnTo>
                  <a:pt x="1734133" y="0"/>
                </a:lnTo>
                <a:lnTo>
                  <a:pt x="1734133" y="343596"/>
                </a:lnTo>
                <a:lnTo>
                  <a:pt x="0" y="343596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t="-118237" b="-118237"/>
            </a:stretch>
          </a:blipFill>
          <a:ln>
            <a:noFill/>
          </a:ln>
        </p:spPr>
      </p:sp>
      <p:grpSp>
        <p:nvGrpSpPr>
          <p:cNvPr id="149" name="Google Shape;149;p25"/>
          <p:cNvGrpSpPr/>
          <p:nvPr/>
        </p:nvGrpSpPr>
        <p:grpSpPr>
          <a:xfrm rot="5400000">
            <a:off x="9995041" y="-4284097"/>
            <a:ext cx="1058129" cy="9596894"/>
            <a:chOff x="0" y="-38100"/>
            <a:chExt cx="557368" cy="5055154"/>
          </a:xfrm>
        </p:grpSpPr>
        <p:sp>
          <p:nvSpPr>
            <p:cNvPr id="150" name="Google Shape;150;p25"/>
            <p:cNvSpPr/>
            <p:nvPr/>
          </p:nvSpPr>
          <p:spPr>
            <a:xfrm>
              <a:off x="0" y="0"/>
              <a:ext cx="557368" cy="5017054"/>
            </a:xfrm>
            <a:custGeom>
              <a:avLst/>
              <a:gdLst/>
              <a:ahLst/>
              <a:cxnLst/>
              <a:rect l="l" t="t" r="r" b="b"/>
              <a:pathLst>
                <a:path w="557368" h="5017054" extrusionOk="0">
                  <a:moveTo>
                    <a:pt x="0" y="0"/>
                  </a:moveTo>
                  <a:lnTo>
                    <a:pt x="557368" y="0"/>
                  </a:lnTo>
                  <a:lnTo>
                    <a:pt x="557368" y="5017054"/>
                  </a:lnTo>
                  <a:lnTo>
                    <a:pt x="0" y="5017054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151" name="Google Shape;151;p25"/>
            <p:cNvSpPr txBox="1"/>
            <p:nvPr/>
          </p:nvSpPr>
          <p:spPr>
            <a:xfrm>
              <a:off x="0" y="-38100"/>
              <a:ext cx="557368" cy="5055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5"/>
          <p:cNvSpPr/>
          <p:nvPr/>
        </p:nvSpPr>
        <p:spPr>
          <a:xfrm>
            <a:off x="5724657" y="-15365"/>
            <a:ext cx="4763283" cy="1060262"/>
          </a:xfrm>
          <a:custGeom>
            <a:avLst/>
            <a:gdLst/>
            <a:ahLst/>
            <a:cxnLst/>
            <a:rect l="l" t="t" r="r" b="b"/>
            <a:pathLst>
              <a:path w="1734133" h="386002" extrusionOk="0">
                <a:moveTo>
                  <a:pt x="0" y="0"/>
                </a:moveTo>
                <a:lnTo>
                  <a:pt x="1734133" y="0"/>
                </a:lnTo>
                <a:lnTo>
                  <a:pt x="1734133" y="386002"/>
                </a:lnTo>
                <a:lnTo>
                  <a:pt x="0" y="386002"/>
                </a:lnTo>
                <a:close/>
              </a:path>
            </a:pathLst>
          </a:custGeom>
          <a:blipFill rotWithShape="1">
            <a:blip r:embed="rId7">
              <a:alphaModFix amt="50000"/>
            </a:blip>
            <a:stretch>
              <a:fillRect t="-99754" b="-9975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6"/>
          <p:cNvGrpSpPr/>
          <p:nvPr/>
        </p:nvGrpSpPr>
        <p:grpSpPr>
          <a:xfrm>
            <a:off x="4643770" y="-315182"/>
            <a:ext cx="5665169" cy="5903654"/>
            <a:chOff x="0" y="-47625"/>
            <a:chExt cx="2984181" cy="3109805"/>
          </a:xfrm>
        </p:grpSpPr>
        <p:sp>
          <p:nvSpPr>
            <p:cNvPr id="158" name="Google Shape;158;p26"/>
            <p:cNvSpPr/>
            <p:nvPr/>
          </p:nvSpPr>
          <p:spPr>
            <a:xfrm>
              <a:off x="0" y="0"/>
              <a:ext cx="2984181" cy="3062180"/>
            </a:xfrm>
            <a:custGeom>
              <a:avLst/>
              <a:gdLst/>
              <a:ahLst/>
              <a:cxnLst/>
              <a:rect l="l" t="t" r="r" b="b"/>
              <a:pathLst>
                <a:path w="2984181" h="3062180" extrusionOk="0">
                  <a:moveTo>
                    <a:pt x="0" y="0"/>
                  </a:moveTo>
                  <a:lnTo>
                    <a:pt x="2984181" y="0"/>
                  </a:lnTo>
                  <a:lnTo>
                    <a:pt x="2984181" y="3062180"/>
                  </a:lnTo>
                  <a:lnTo>
                    <a:pt x="0" y="3062180"/>
                  </a:lnTo>
                  <a:close/>
                </a:path>
              </a:pathLst>
            </a:custGeom>
            <a:solidFill>
              <a:srgbClr val="0C152A"/>
            </a:solidFill>
            <a:ln>
              <a:noFill/>
            </a:ln>
          </p:spPr>
        </p:sp>
        <p:sp>
          <p:nvSpPr>
            <p:cNvPr id="159" name="Google Shape;159;p26"/>
            <p:cNvSpPr txBox="1"/>
            <p:nvPr/>
          </p:nvSpPr>
          <p:spPr>
            <a:xfrm>
              <a:off x="0" y="-47625"/>
              <a:ext cx="2984181" cy="310980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26"/>
          <p:cNvSpPr/>
          <p:nvPr/>
        </p:nvSpPr>
        <p:spPr>
          <a:xfrm>
            <a:off x="4825104" y="1534321"/>
            <a:ext cx="4119305" cy="2204651"/>
          </a:xfrm>
          <a:custGeom>
            <a:avLst/>
            <a:gdLst/>
            <a:ahLst/>
            <a:cxnLst/>
            <a:rect l="l" t="t" r="r" b="b"/>
            <a:pathLst>
              <a:path w="8238609" h="4409302" extrusionOk="0">
                <a:moveTo>
                  <a:pt x="0" y="0"/>
                </a:moveTo>
                <a:lnTo>
                  <a:pt x="8238609" y="0"/>
                </a:lnTo>
                <a:lnTo>
                  <a:pt x="8238609" y="4409303"/>
                </a:lnTo>
                <a:lnTo>
                  <a:pt x="0" y="440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6839" t="-40392" r="-19343" b="-1628"/>
            </a:stretch>
          </a:blipFill>
          <a:ln>
            <a:noFill/>
          </a:ln>
        </p:spPr>
      </p:sp>
      <p:sp>
        <p:nvSpPr>
          <p:cNvPr id="161" name="Google Shape;161;p26"/>
          <p:cNvSpPr/>
          <p:nvPr/>
        </p:nvSpPr>
        <p:spPr>
          <a:xfrm rot="201610">
            <a:off x="8637822" y="4693166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3" y="0"/>
                </a:lnTo>
                <a:lnTo>
                  <a:pt x="742873" y="579442"/>
                </a:lnTo>
                <a:lnTo>
                  <a:pt x="0" y="5794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2" name="Google Shape;162;p26"/>
          <p:cNvSpPr txBox="1"/>
          <p:nvPr/>
        </p:nvSpPr>
        <p:spPr>
          <a:xfrm>
            <a:off x="243925" y="98172"/>
            <a:ext cx="9500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i="0" u="none" strike="noStrike" cap="none">
                <a:solidFill>
                  <a:srgbClr val="BE765C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r>
              <a:rPr lang="en-GB" sz="2900" b="1" i="0" u="none" strike="noStrike" cap="none">
                <a:solidFill>
                  <a:srgbClr val="BE765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00"/>
          </a:p>
        </p:txBody>
      </p:sp>
      <p:sp>
        <p:nvSpPr>
          <p:cNvPr id="163" name="Google Shape;163;p26"/>
          <p:cNvSpPr txBox="1"/>
          <p:nvPr/>
        </p:nvSpPr>
        <p:spPr>
          <a:xfrm>
            <a:off x="167725" y="613949"/>
            <a:ext cx="3748500" cy="46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Language Identification (LID) is the task of detecting the spoken language from an audio signal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Focus on short audio clips (3–10 seconds)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Classifies into Malayalam, Tamil, Hindi, English, and Kannada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Uses acoustic features like MFCC, pitch, and spectral features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Applies classical ML models (SVM, Random Forest, Logistic Regression)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Does not use deep learning → lightweight and interpretable approach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Challenging due to similarities between Dravidian languages</a:t>
            </a:r>
            <a:endParaRPr sz="700"/>
          </a:p>
          <a:p>
            <a:pPr marL="292100" marR="0" lvl="1" indent="-14605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Clr>
                <a:srgbClr val="0C152A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0C152A"/>
                </a:solidFill>
                <a:latin typeface="Arial"/>
                <a:ea typeface="Arial"/>
                <a:cs typeface="Arial"/>
                <a:sym typeface="Arial"/>
              </a:rPr>
              <a:t>Useful in voice assistants, call routing, and speech systems</a:t>
            </a:r>
            <a:endParaRPr sz="700"/>
          </a:p>
          <a:p>
            <a:pPr marL="0" marR="0" lvl="0" indent="0" algn="l" rtl="0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0C15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6" title="audio-wave-xx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3775" y="-191600"/>
            <a:ext cx="1223950" cy="1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 title="audio-wave-xx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725" y="-205750"/>
            <a:ext cx="1223950" cy="1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6" title="audio-wave-xx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1675" y="-191600"/>
            <a:ext cx="1223950" cy="110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 title="audio-wave-xx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15625" y="-191600"/>
            <a:ext cx="1223950" cy="11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/>
          <p:nvPr/>
        </p:nvSpPr>
        <p:spPr>
          <a:xfrm>
            <a:off x="7886953" y="1575341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2"/>
                </a:lnTo>
                <a:lnTo>
                  <a:pt x="0" y="3574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173" name="Google Shape;173;p27"/>
          <p:cNvSpPr/>
          <p:nvPr/>
        </p:nvSpPr>
        <p:spPr>
          <a:xfrm>
            <a:off x="2100633" y="3362478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4" name="Google Shape;174;p27"/>
          <p:cNvGrpSpPr/>
          <p:nvPr/>
        </p:nvGrpSpPr>
        <p:grpSpPr>
          <a:xfrm>
            <a:off x="-187764" y="-139614"/>
            <a:ext cx="1182811" cy="5283114"/>
            <a:chOff x="0" y="-38100"/>
            <a:chExt cx="623044" cy="2782875"/>
          </a:xfrm>
        </p:grpSpPr>
        <p:sp>
          <p:nvSpPr>
            <p:cNvPr id="175" name="Google Shape;175;p27"/>
            <p:cNvSpPr/>
            <p:nvPr/>
          </p:nvSpPr>
          <p:spPr>
            <a:xfrm>
              <a:off x="0" y="0"/>
              <a:ext cx="623044" cy="2744775"/>
            </a:xfrm>
            <a:custGeom>
              <a:avLst/>
              <a:gdLst/>
              <a:ahLst/>
              <a:cxnLst/>
              <a:rect l="l" t="t" r="r" b="b"/>
              <a:pathLst>
                <a:path w="623044" h="2744775" extrusionOk="0">
                  <a:moveTo>
                    <a:pt x="0" y="0"/>
                  </a:moveTo>
                  <a:lnTo>
                    <a:pt x="623044" y="0"/>
                  </a:lnTo>
                  <a:lnTo>
                    <a:pt x="623044" y="2744775"/>
                  </a:lnTo>
                  <a:lnTo>
                    <a:pt x="0" y="27447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6" name="Google Shape;176;p27"/>
            <p:cNvSpPr txBox="1"/>
            <p:nvPr/>
          </p:nvSpPr>
          <p:spPr>
            <a:xfrm>
              <a:off x="0" y="-38100"/>
              <a:ext cx="623044" cy="2782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7"/>
          <p:cNvSpPr/>
          <p:nvPr/>
        </p:nvSpPr>
        <p:spPr>
          <a:xfrm>
            <a:off x="-424803" y="361515"/>
            <a:ext cx="3160731" cy="4499332"/>
          </a:xfrm>
          <a:custGeom>
            <a:avLst/>
            <a:gdLst/>
            <a:ahLst/>
            <a:cxnLst/>
            <a:rect l="l" t="t" r="r" b="b"/>
            <a:pathLst>
              <a:path w="979360" h="1394129" extrusionOk="0">
                <a:moveTo>
                  <a:pt x="0" y="0"/>
                </a:moveTo>
                <a:lnTo>
                  <a:pt x="979360" y="0"/>
                </a:lnTo>
                <a:lnTo>
                  <a:pt x="979360" y="1394129"/>
                </a:lnTo>
                <a:lnTo>
                  <a:pt x="0" y="13941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6664" r="-56664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8" name="Google Shape;178;p27"/>
          <p:cNvSpPr/>
          <p:nvPr/>
        </p:nvSpPr>
        <p:spPr>
          <a:xfrm>
            <a:off x="2257453" y="55729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179" name="Google Shape;179;p27"/>
          <p:cNvSpPr txBox="1"/>
          <p:nvPr/>
        </p:nvSpPr>
        <p:spPr>
          <a:xfrm>
            <a:off x="3345730" y="165769"/>
            <a:ext cx="579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700"/>
          </a:p>
        </p:txBody>
      </p:sp>
      <p:sp>
        <p:nvSpPr>
          <p:cNvPr id="180" name="Google Shape;180;p27"/>
          <p:cNvSpPr txBox="1"/>
          <p:nvPr/>
        </p:nvSpPr>
        <p:spPr>
          <a:xfrm>
            <a:off x="2998380" y="786085"/>
            <a:ext cx="5167500" cy="44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machine learning model to classify spoken language from audio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3–10 second speech clips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One of five predefined languages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the model using: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acoustic features (MFCC, prosodic, spectral)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algorithms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performance using: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Macro F1-score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5-fold cross-validation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the model can: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similarity between closely related languages</a:t>
            </a:r>
            <a:endParaRPr sz="700"/>
          </a:p>
          <a:p>
            <a:pPr marL="317500" marR="0" lvl="1" indent="-158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balanced performance across all classes</a:t>
            </a:r>
            <a:endParaRPr sz="70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7"/>
          <p:cNvSpPr/>
          <p:nvPr/>
        </p:nvSpPr>
        <p:spPr>
          <a:xfrm rot="201610">
            <a:off x="8657549" y="4739042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3" y="0"/>
                </a:lnTo>
                <a:lnTo>
                  <a:pt x="742873" y="579441"/>
                </a:lnTo>
                <a:lnTo>
                  <a:pt x="0" y="579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2" name="Google Shape;182;p27"/>
          <p:cNvSpPr/>
          <p:nvPr/>
        </p:nvSpPr>
        <p:spPr>
          <a:xfrm rot="-5400000">
            <a:off x="8507123" y="4522345"/>
            <a:ext cx="270318" cy="95693"/>
          </a:xfrm>
          <a:custGeom>
            <a:avLst/>
            <a:gdLst/>
            <a:ahLst/>
            <a:cxnLst/>
            <a:rect l="l" t="t" r="r" b="b"/>
            <a:pathLst>
              <a:path w="540635" h="191386" extrusionOk="0">
                <a:moveTo>
                  <a:pt x="0" y="0"/>
                </a:moveTo>
                <a:lnTo>
                  <a:pt x="540635" y="0"/>
                </a:lnTo>
                <a:lnTo>
                  <a:pt x="540635" y="191387"/>
                </a:lnTo>
                <a:lnTo>
                  <a:pt x="0" y="1913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8"/>
          <p:cNvGrpSpPr/>
          <p:nvPr/>
        </p:nvGrpSpPr>
        <p:grpSpPr>
          <a:xfrm>
            <a:off x="5509188" y="133287"/>
            <a:ext cx="4857877" cy="4857878"/>
            <a:chOff x="0" y="0"/>
            <a:chExt cx="812800" cy="812800"/>
          </a:xfrm>
        </p:grpSpPr>
        <p:sp>
          <p:nvSpPr>
            <p:cNvPr id="188" name="Google Shape;188;p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152A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28"/>
          <p:cNvSpPr/>
          <p:nvPr/>
        </p:nvSpPr>
        <p:spPr>
          <a:xfrm rot="-5400000">
            <a:off x="4744270" y="805021"/>
            <a:ext cx="4629150" cy="3332988"/>
          </a:xfrm>
          <a:custGeom>
            <a:avLst/>
            <a:gdLst/>
            <a:ahLst/>
            <a:cxnLst/>
            <a:rect l="l" t="t" r="r" b="b"/>
            <a:pathLst>
              <a:path w="9258300" h="6665976" extrusionOk="0">
                <a:moveTo>
                  <a:pt x="0" y="0"/>
                </a:moveTo>
                <a:lnTo>
                  <a:pt x="9258300" y="0"/>
                </a:lnTo>
                <a:lnTo>
                  <a:pt x="9258300" y="6665976"/>
                </a:lnTo>
                <a:lnTo>
                  <a:pt x="0" y="66659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1" name="Google Shape;191;p28"/>
          <p:cNvSpPr txBox="1"/>
          <p:nvPr/>
        </p:nvSpPr>
        <p:spPr>
          <a:xfrm>
            <a:off x="297386" y="78630"/>
            <a:ext cx="81153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DATA SOURCE</a:t>
            </a:r>
            <a:endParaRPr sz="700"/>
          </a:p>
        </p:txBody>
      </p:sp>
      <p:sp>
        <p:nvSpPr>
          <p:cNvPr id="192" name="Google Shape;192;p28"/>
          <p:cNvSpPr txBox="1"/>
          <p:nvPr/>
        </p:nvSpPr>
        <p:spPr>
          <a:xfrm>
            <a:off x="210368" y="1339108"/>
            <a:ext cx="38433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0" marR="0" lvl="1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0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4F5F0"/>
                </a:solidFill>
                <a:latin typeface="Arial"/>
                <a:ea typeface="Arial"/>
                <a:cs typeface="Arial"/>
                <a:sym typeface="Arial"/>
              </a:rPr>
              <a:t>~1000 audio samples per language</a:t>
            </a:r>
            <a:endParaRPr sz="700"/>
          </a:p>
          <a:p>
            <a:pPr marL="317500" marR="0" lvl="1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0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4F5F0"/>
                </a:solidFill>
                <a:latin typeface="Arial"/>
                <a:ea typeface="Arial"/>
                <a:cs typeface="Arial"/>
                <a:sym typeface="Arial"/>
              </a:rPr>
              <a:t>~5000 audio clips in total</a:t>
            </a:r>
            <a:endParaRPr sz="700"/>
          </a:p>
          <a:p>
            <a:pPr marL="317500" marR="0" lvl="1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0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4F5F0"/>
                </a:solidFill>
                <a:latin typeface="Arial"/>
                <a:ea typeface="Arial"/>
                <a:cs typeface="Arial"/>
                <a:sym typeface="Arial"/>
              </a:rPr>
              <a:t>Balanced across all classes</a:t>
            </a:r>
            <a:endParaRPr sz="700"/>
          </a:p>
          <a:p>
            <a:pPr marL="317500" marR="0" lvl="1" indent="-158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0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4F5F0"/>
                </a:solidFill>
                <a:latin typeface="Arial"/>
                <a:ea typeface="Arial"/>
                <a:cs typeface="Arial"/>
                <a:sym typeface="Arial"/>
              </a:rPr>
              <a:t>Suitable for fair evaluation using Macro F1-score</a:t>
            </a:r>
            <a:endParaRPr sz="70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F4F5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297385" y="867091"/>
            <a:ext cx="4057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4F5F0"/>
                </a:solidFill>
                <a:latin typeface="Arial"/>
                <a:ea typeface="Arial"/>
                <a:cs typeface="Arial"/>
                <a:sym typeface="Arial"/>
              </a:rPr>
              <a:t>Dataset collected from open-source speech corpora</a:t>
            </a:r>
            <a:endParaRPr sz="700"/>
          </a:p>
        </p:txBody>
      </p:sp>
      <p:graphicFrame>
        <p:nvGraphicFramePr>
          <p:cNvPr id="194" name="Google Shape;194;p28"/>
          <p:cNvGraphicFramePr/>
          <p:nvPr/>
        </p:nvGraphicFramePr>
        <p:xfrm>
          <a:off x="416986" y="2571750"/>
          <a:ext cx="3723800" cy="2447850"/>
        </p:xfrm>
        <a:graphic>
          <a:graphicData uri="http://schemas.openxmlformats.org/drawingml/2006/table">
            <a:tbl>
              <a:tblPr>
                <a:noFill/>
                <a:tableStyleId>{37EF7D54-86B1-46D9-81D7-0D95AAADE293}</a:tableStyleId>
              </a:tblPr>
              <a:tblGrid>
                <a:gridCol w="175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E3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4E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u="none" strike="noStrike" cap="none"/>
                    </a:p>
                  </a:txBody>
                  <a:tcPr marL="95250" marR="95250" marT="95250" marB="95250" anchor="ctr">
                    <a:lnL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5D9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" name="Google Shape;195;p28"/>
          <p:cNvSpPr txBox="1"/>
          <p:nvPr/>
        </p:nvSpPr>
        <p:spPr>
          <a:xfrm>
            <a:off x="-784922" y="2600325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 sz="700"/>
          </a:p>
        </p:txBody>
      </p:sp>
      <p:sp>
        <p:nvSpPr>
          <p:cNvPr id="196" name="Google Shape;196;p28"/>
          <p:cNvSpPr txBox="1"/>
          <p:nvPr/>
        </p:nvSpPr>
        <p:spPr>
          <a:xfrm>
            <a:off x="898649" y="2600325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sz="700"/>
          </a:p>
        </p:txBody>
      </p:sp>
      <p:sp>
        <p:nvSpPr>
          <p:cNvPr id="197" name="Google Shape;197;p28"/>
          <p:cNvSpPr txBox="1"/>
          <p:nvPr/>
        </p:nvSpPr>
        <p:spPr>
          <a:xfrm>
            <a:off x="-784922" y="3000057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Malayalam</a:t>
            </a:r>
            <a:endParaRPr sz="700"/>
          </a:p>
        </p:txBody>
      </p:sp>
      <p:sp>
        <p:nvSpPr>
          <p:cNvPr id="198" name="Google Shape;198;p28"/>
          <p:cNvSpPr txBox="1"/>
          <p:nvPr/>
        </p:nvSpPr>
        <p:spPr>
          <a:xfrm>
            <a:off x="1005404" y="3029585"/>
            <a:ext cx="4222001" cy="2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OpenSLR (SLR63)</a:t>
            </a:r>
            <a:endParaRPr sz="700"/>
          </a:p>
        </p:txBody>
      </p:sp>
      <p:sp>
        <p:nvSpPr>
          <p:cNvPr id="199" name="Google Shape;199;p28"/>
          <p:cNvSpPr txBox="1"/>
          <p:nvPr/>
        </p:nvSpPr>
        <p:spPr>
          <a:xfrm>
            <a:off x="-976310" y="3399790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Tamil</a:t>
            </a:r>
            <a:endParaRPr sz="700"/>
          </a:p>
        </p:txBody>
      </p:sp>
      <p:sp>
        <p:nvSpPr>
          <p:cNvPr id="200" name="Google Shape;200;p28"/>
          <p:cNvSpPr txBox="1"/>
          <p:nvPr/>
        </p:nvSpPr>
        <p:spPr>
          <a:xfrm>
            <a:off x="1005404" y="3440748"/>
            <a:ext cx="4222001" cy="2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OpenSLR (SLR65)</a:t>
            </a:r>
            <a:endParaRPr sz="700"/>
          </a:p>
        </p:txBody>
      </p:sp>
      <p:sp>
        <p:nvSpPr>
          <p:cNvPr id="201" name="Google Shape;201;p28"/>
          <p:cNvSpPr txBox="1"/>
          <p:nvPr/>
        </p:nvSpPr>
        <p:spPr>
          <a:xfrm>
            <a:off x="-900110" y="3849053"/>
            <a:ext cx="4222000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Hindi </a:t>
            </a:r>
            <a:endParaRPr sz="700"/>
          </a:p>
        </p:txBody>
      </p:sp>
      <p:sp>
        <p:nvSpPr>
          <p:cNvPr id="202" name="Google Shape;202;p28"/>
          <p:cNvSpPr txBox="1"/>
          <p:nvPr/>
        </p:nvSpPr>
        <p:spPr>
          <a:xfrm>
            <a:off x="1005404" y="3853815"/>
            <a:ext cx="4222001" cy="260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GV_Eval_3h</a:t>
            </a:r>
            <a:endParaRPr sz="700"/>
          </a:p>
        </p:txBody>
      </p:sp>
      <p:sp>
        <p:nvSpPr>
          <p:cNvPr id="203" name="Google Shape;203;p28"/>
          <p:cNvSpPr txBox="1"/>
          <p:nvPr/>
        </p:nvSpPr>
        <p:spPr>
          <a:xfrm>
            <a:off x="-976310" y="4286885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English</a:t>
            </a:r>
            <a:endParaRPr sz="700"/>
          </a:p>
        </p:txBody>
      </p:sp>
      <p:sp>
        <p:nvSpPr>
          <p:cNvPr id="204" name="Google Shape;204;p28"/>
          <p:cNvSpPr txBox="1"/>
          <p:nvPr/>
        </p:nvSpPr>
        <p:spPr>
          <a:xfrm>
            <a:off x="1005404" y="4253548"/>
            <a:ext cx="42220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LibriSpeech (SLR12)</a:t>
            </a:r>
            <a:endParaRPr sz="700"/>
          </a:p>
        </p:txBody>
      </p:sp>
      <p:sp>
        <p:nvSpPr>
          <p:cNvPr id="205" name="Google Shape;205;p28"/>
          <p:cNvSpPr txBox="1"/>
          <p:nvPr/>
        </p:nvSpPr>
        <p:spPr>
          <a:xfrm>
            <a:off x="-976310" y="4610195"/>
            <a:ext cx="4222001" cy="29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Kannada</a:t>
            </a:r>
            <a:endParaRPr sz="700"/>
          </a:p>
        </p:txBody>
      </p:sp>
      <p:sp>
        <p:nvSpPr>
          <p:cNvPr id="206" name="Google Shape;206;p28"/>
          <p:cNvSpPr txBox="1"/>
          <p:nvPr/>
        </p:nvSpPr>
        <p:spPr>
          <a:xfrm>
            <a:off x="1005404" y="4643215"/>
            <a:ext cx="422200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OpenSLR (SLR79)</a:t>
            </a:r>
            <a:endParaRPr sz="700"/>
          </a:p>
        </p:txBody>
      </p:sp>
      <p:sp>
        <p:nvSpPr>
          <p:cNvPr id="207" name="Google Shape;207;p28"/>
          <p:cNvSpPr/>
          <p:nvPr/>
        </p:nvSpPr>
        <p:spPr>
          <a:xfrm rot="201610">
            <a:off x="8858879" y="4882360"/>
            <a:ext cx="278984" cy="217607"/>
          </a:xfrm>
          <a:custGeom>
            <a:avLst/>
            <a:gdLst/>
            <a:ahLst/>
            <a:cxnLst/>
            <a:rect l="l" t="t" r="r" b="b"/>
            <a:pathLst>
              <a:path w="557967" h="435214" extrusionOk="0">
                <a:moveTo>
                  <a:pt x="0" y="0"/>
                </a:moveTo>
                <a:lnTo>
                  <a:pt x="557967" y="0"/>
                </a:lnTo>
                <a:lnTo>
                  <a:pt x="557967" y="435214"/>
                </a:lnTo>
                <a:lnTo>
                  <a:pt x="0" y="435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587479" y="2037646"/>
            <a:ext cx="431129" cy="290440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221" name="Google Shape;221;p29"/>
          <p:cNvSpPr/>
          <p:nvPr/>
        </p:nvSpPr>
        <p:spPr>
          <a:xfrm>
            <a:off x="179898" y="3415211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223" name="Google Shape;223;p29"/>
          <p:cNvSpPr/>
          <p:nvPr/>
        </p:nvSpPr>
        <p:spPr>
          <a:xfrm rot="10800000">
            <a:off x="6099850" y="104728"/>
            <a:ext cx="4141429" cy="1636365"/>
          </a:xfrm>
          <a:custGeom>
            <a:avLst/>
            <a:gdLst/>
            <a:ahLst/>
            <a:cxnLst/>
            <a:rect l="l" t="t" r="r" b="b"/>
            <a:pathLst>
              <a:path w="9045234" h="3272730" extrusionOk="0">
                <a:moveTo>
                  <a:pt x="0" y="0"/>
                </a:moveTo>
                <a:lnTo>
                  <a:pt x="9045234" y="0"/>
                </a:lnTo>
                <a:lnTo>
                  <a:pt x="9045234" y="3272730"/>
                </a:lnTo>
                <a:lnTo>
                  <a:pt x="0" y="327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4" name="Google Shape;224;p29"/>
          <p:cNvSpPr/>
          <p:nvPr/>
        </p:nvSpPr>
        <p:spPr>
          <a:xfrm>
            <a:off x="-1500816" y="59080"/>
            <a:ext cx="3001632" cy="1591868"/>
          </a:xfrm>
          <a:custGeom>
            <a:avLst/>
            <a:gdLst/>
            <a:ahLst/>
            <a:cxnLst/>
            <a:rect l="l" t="t" r="r" b="b"/>
            <a:pathLst>
              <a:path w="8799270" h="3183736" extrusionOk="0">
                <a:moveTo>
                  <a:pt x="0" y="0"/>
                </a:moveTo>
                <a:lnTo>
                  <a:pt x="8799270" y="0"/>
                </a:lnTo>
                <a:lnTo>
                  <a:pt x="8799270" y="3183736"/>
                </a:lnTo>
                <a:lnTo>
                  <a:pt x="0" y="3183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5" name="Google Shape;225;p29"/>
          <p:cNvSpPr/>
          <p:nvPr/>
        </p:nvSpPr>
        <p:spPr>
          <a:xfrm>
            <a:off x="1197276" y="1402152"/>
            <a:ext cx="4399635" cy="1591868"/>
          </a:xfrm>
          <a:custGeom>
            <a:avLst/>
            <a:gdLst/>
            <a:ahLst/>
            <a:cxnLst/>
            <a:rect l="l" t="t" r="r" b="b"/>
            <a:pathLst>
              <a:path w="8799270" h="3183736" extrusionOk="0">
                <a:moveTo>
                  <a:pt x="0" y="0"/>
                </a:moveTo>
                <a:lnTo>
                  <a:pt x="8799270" y="0"/>
                </a:lnTo>
                <a:lnTo>
                  <a:pt x="8799270" y="3183735"/>
                </a:lnTo>
                <a:lnTo>
                  <a:pt x="0" y="3183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p29"/>
          <p:cNvSpPr/>
          <p:nvPr/>
        </p:nvSpPr>
        <p:spPr>
          <a:xfrm>
            <a:off x="301333" y="1541450"/>
            <a:ext cx="5677083" cy="2795628"/>
          </a:xfrm>
          <a:custGeom>
            <a:avLst/>
            <a:gdLst/>
            <a:ahLst/>
            <a:cxnLst/>
            <a:rect l="l" t="t" r="r" b="b"/>
            <a:pathLst>
              <a:path w="2338654" h="1151649" extrusionOk="0">
                <a:moveTo>
                  <a:pt x="35466" y="0"/>
                </a:moveTo>
                <a:lnTo>
                  <a:pt x="2303189" y="0"/>
                </a:lnTo>
                <a:cubicBezTo>
                  <a:pt x="2312595" y="0"/>
                  <a:pt x="2321615" y="3737"/>
                  <a:pt x="2328267" y="10388"/>
                </a:cubicBezTo>
                <a:cubicBezTo>
                  <a:pt x="2334918" y="17039"/>
                  <a:pt x="2338654" y="26060"/>
                  <a:pt x="2338654" y="35466"/>
                </a:cubicBezTo>
                <a:lnTo>
                  <a:pt x="2338654" y="1116183"/>
                </a:lnTo>
                <a:cubicBezTo>
                  <a:pt x="2338654" y="1125589"/>
                  <a:pt x="2334918" y="1134610"/>
                  <a:pt x="2328267" y="1141261"/>
                </a:cubicBezTo>
                <a:cubicBezTo>
                  <a:pt x="2321615" y="1147912"/>
                  <a:pt x="2312595" y="1151649"/>
                  <a:pt x="2303189" y="1151649"/>
                </a:cubicBezTo>
                <a:lnTo>
                  <a:pt x="35466" y="1151649"/>
                </a:lnTo>
                <a:cubicBezTo>
                  <a:pt x="26060" y="1151649"/>
                  <a:pt x="17039" y="1147912"/>
                  <a:pt x="10388" y="1141261"/>
                </a:cubicBezTo>
                <a:cubicBezTo>
                  <a:pt x="3737" y="1134610"/>
                  <a:pt x="0" y="1125589"/>
                  <a:pt x="0" y="1116183"/>
                </a:cubicBezTo>
                <a:lnTo>
                  <a:pt x="0" y="35466"/>
                </a:lnTo>
                <a:cubicBezTo>
                  <a:pt x="0" y="26060"/>
                  <a:pt x="3737" y="17039"/>
                  <a:pt x="10388" y="10388"/>
                </a:cubicBezTo>
                <a:cubicBezTo>
                  <a:pt x="17039" y="3737"/>
                  <a:pt x="26060" y="0"/>
                  <a:pt x="35466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21" r="-121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9"/>
          <p:cNvSpPr/>
          <p:nvPr/>
        </p:nvSpPr>
        <p:spPr>
          <a:xfrm rot="201610">
            <a:off x="8733749" y="4815242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3" y="0"/>
                </a:lnTo>
                <a:lnTo>
                  <a:pt x="742873" y="579441"/>
                </a:lnTo>
                <a:lnTo>
                  <a:pt x="0" y="579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9" name="Google Shape;229;p29"/>
          <p:cNvSpPr txBox="1"/>
          <p:nvPr/>
        </p:nvSpPr>
        <p:spPr>
          <a:xfrm>
            <a:off x="5988591" y="1548125"/>
            <a:ext cx="2951400" cy="3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marR="0" lvl="1" indent="-177800" algn="l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is largely balanced across all 5 languages</a:t>
            </a:r>
            <a:endParaRPr sz="700" dirty="0"/>
          </a:p>
          <a:p>
            <a:pPr marL="342900" marR="0" lvl="1" indent="-177800" algn="l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Balanced data ensures fair evaluation using Macro F1-score</a:t>
            </a:r>
            <a:endParaRPr sz="700" dirty="0"/>
          </a:p>
          <a:p>
            <a:pPr marL="342900" marR="0" lvl="1" indent="-177800" algn="l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GB" sz="16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Minor imbalance is handled using </a:t>
            </a:r>
            <a:r>
              <a:rPr lang="en-GB" sz="1600" b="0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class_weight</a:t>
            </a:r>
            <a:r>
              <a:rPr lang="en-GB" sz="16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= 'balanced'</a:t>
            </a:r>
            <a:endParaRPr sz="700" dirty="0"/>
          </a:p>
          <a:p>
            <a:pPr marL="0" marR="0" lvl="0" indent="0" algn="l" rtl="0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9"/>
          <p:cNvSpPr txBox="1"/>
          <p:nvPr/>
        </p:nvSpPr>
        <p:spPr>
          <a:xfrm>
            <a:off x="1455677" y="607310"/>
            <a:ext cx="7269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Class Distribution</a:t>
            </a:r>
            <a:endParaRPr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30"/>
          <p:cNvGrpSpPr/>
          <p:nvPr/>
        </p:nvGrpSpPr>
        <p:grpSpPr>
          <a:xfrm>
            <a:off x="-21577" y="-250135"/>
            <a:ext cx="9256243" cy="5862771"/>
            <a:chOff x="-16907" y="-33338"/>
            <a:chExt cx="4918226" cy="1287788"/>
          </a:xfrm>
        </p:grpSpPr>
        <p:sp>
          <p:nvSpPr>
            <p:cNvPr id="236" name="Google Shape;236;p30"/>
            <p:cNvSpPr/>
            <p:nvPr/>
          </p:nvSpPr>
          <p:spPr>
            <a:xfrm>
              <a:off x="0" y="0"/>
              <a:ext cx="4901319" cy="1221113"/>
            </a:xfrm>
            <a:custGeom>
              <a:avLst/>
              <a:gdLst/>
              <a:ahLst/>
              <a:cxnLst/>
              <a:rect l="l" t="t" r="r" b="b"/>
              <a:pathLst>
                <a:path w="4901319" h="1221113" extrusionOk="0">
                  <a:moveTo>
                    <a:pt x="0" y="0"/>
                  </a:moveTo>
                  <a:lnTo>
                    <a:pt x="4901319" y="0"/>
                  </a:lnTo>
                  <a:lnTo>
                    <a:pt x="4901319" y="1221113"/>
                  </a:lnTo>
                  <a:lnTo>
                    <a:pt x="0" y="1221113"/>
                  </a:lnTo>
                  <a:close/>
                </a:path>
              </a:pathLst>
            </a:custGeom>
            <a:solidFill>
              <a:srgbClr val="100F31"/>
            </a:solidFill>
            <a:ln>
              <a:noFill/>
            </a:ln>
          </p:spPr>
        </p:sp>
        <p:sp>
          <p:nvSpPr>
            <p:cNvPr id="237" name="Google Shape;237;p30"/>
            <p:cNvSpPr txBox="1"/>
            <p:nvPr/>
          </p:nvSpPr>
          <p:spPr>
            <a:xfrm>
              <a:off x="-16907" y="-33338"/>
              <a:ext cx="4901320" cy="1287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30"/>
          <p:cNvSpPr/>
          <p:nvPr/>
        </p:nvSpPr>
        <p:spPr>
          <a:xfrm>
            <a:off x="2587479" y="2037646"/>
            <a:ext cx="431129" cy="290440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244" name="Google Shape;244;p30"/>
          <p:cNvSpPr/>
          <p:nvPr/>
        </p:nvSpPr>
        <p:spPr>
          <a:xfrm>
            <a:off x="15403" y="3161641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245" name="Google Shape;245;p30"/>
          <p:cNvSpPr/>
          <p:nvPr/>
        </p:nvSpPr>
        <p:spPr>
          <a:xfrm>
            <a:off x="4294649" y="4560198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80"/>
                </a:lnTo>
                <a:lnTo>
                  <a:pt x="0" y="5808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246" name="Google Shape;246;p30"/>
          <p:cNvSpPr/>
          <p:nvPr/>
        </p:nvSpPr>
        <p:spPr>
          <a:xfrm rot="10800000">
            <a:off x="7783417" y="-39646"/>
            <a:ext cx="1388239" cy="1636365"/>
          </a:xfrm>
          <a:custGeom>
            <a:avLst/>
            <a:gdLst/>
            <a:ahLst/>
            <a:cxnLst/>
            <a:rect l="l" t="t" r="r" b="b"/>
            <a:pathLst>
              <a:path w="9045234" h="3272730" extrusionOk="0">
                <a:moveTo>
                  <a:pt x="0" y="0"/>
                </a:moveTo>
                <a:lnTo>
                  <a:pt x="9045233" y="0"/>
                </a:lnTo>
                <a:lnTo>
                  <a:pt x="9045233" y="3272730"/>
                </a:lnTo>
                <a:lnTo>
                  <a:pt x="0" y="3272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250" name="Google Shape;250;p30"/>
          <p:cNvSpPr/>
          <p:nvPr/>
        </p:nvSpPr>
        <p:spPr>
          <a:xfrm>
            <a:off x="476807" y="56013"/>
            <a:ext cx="3414901" cy="2258152"/>
          </a:xfrm>
          <a:custGeom>
            <a:avLst/>
            <a:gdLst/>
            <a:ahLst/>
            <a:cxnLst/>
            <a:rect l="l" t="t" r="r" b="b"/>
            <a:pathLst>
              <a:path w="960833" h="655644" extrusionOk="0">
                <a:moveTo>
                  <a:pt x="0" y="0"/>
                </a:moveTo>
                <a:lnTo>
                  <a:pt x="960833" y="0"/>
                </a:lnTo>
                <a:lnTo>
                  <a:pt x="960833" y="655644"/>
                </a:lnTo>
                <a:lnTo>
                  <a:pt x="0" y="65564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94962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1" name="Google Shape;251;p30"/>
          <p:cNvSpPr/>
          <p:nvPr/>
        </p:nvSpPr>
        <p:spPr>
          <a:xfrm>
            <a:off x="456960" y="2383025"/>
            <a:ext cx="3469089" cy="2487229"/>
          </a:xfrm>
          <a:custGeom>
            <a:avLst/>
            <a:gdLst/>
            <a:ahLst/>
            <a:cxnLst/>
            <a:rect l="l" t="t" r="r" b="b"/>
            <a:pathLst>
              <a:path w="1001382" h="717960" extrusionOk="0">
                <a:moveTo>
                  <a:pt x="0" y="0"/>
                </a:moveTo>
                <a:lnTo>
                  <a:pt x="1001382" y="0"/>
                </a:lnTo>
                <a:lnTo>
                  <a:pt x="1001382" y="717960"/>
                </a:lnTo>
                <a:lnTo>
                  <a:pt x="0" y="7179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04166" r="-1034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2" name="Google Shape;252;p30"/>
          <p:cNvSpPr/>
          <p:nvPr/>
        </p:nvSpPr>
        <p:spPr>
          <a:xfrm rot="201610">
            <a:off x="8742716" y="4629509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4" y="0"/>
                </a:lnTo>
                <a:lnTo>
                  <a:pt x="742874" y="579441"/>
                </a:lnTo>
                <a:lnTo>
                  <a:pt x="0" y="579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3" name="Google Shape;253;p30"/>
          <p:cNvSpPr txBox="1"/>
          <p:nvPr/>
        </p:nvSpPr>
        <p:spPr>
          <a:xfrm>
            <a:off x="3993745" y="490338"/>
            <a:ext cx="5355946" cy="46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Duration Distribution</a:t>
            </a:r>
            <a:endParaRPr sz="700" dirty="0"/>
          </a:p>
        </p:txBody>
      </p:sp>
      <p:sp>
        <p:nvSpPr>
          <p:cNvPr id="254" name="Google Shape;254;p30"/>
          <p:cNvSpPr txBox="1"/>
          <p:nvPr/>
        </p:nvSpPr>
        <p:spPr>
          <a:xfrm>
            <a:off x="4024222" y="1185089"/>
            <a:ext cx="3173019" cy="2992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68300" marR="0" lvl="1" indent="-1841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n-GB" sz="17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Shows variation in audio clip durations across languages</a:t>
            </a:r>
            <a:endParaRPr sz="700" dirty="0"/>
          </a:p>
          <a:p>
            <a:pPr marL="368300" marR="0" lvl="1" indent="-1841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n-GB" sz="17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clips are standardized to 5 seconds during preprocessing</a:t>
            </a:r>
            <a:endParaRPr sz="700" dirty="0"/>
          </a:p>
          <a:p>
            <a:pPr marL="368300" marR="0" lvl="1" indent="-1841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n-GB" sz="1700" b="0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consistent and fair feature extraction</a:t>
            </a:r>
            <a:endParaRPr sz="700" dirty="0"/>
          </a:p>
          <a:p>
            <a:pPr marL="0" marR="0" lvl="0" indent="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244;p30">
            <a:extLst>
              <a:ext uri="{FF2B5EF4-FFF2-40B4-BE49-F238E27FC236}">
                <a16:creationId xmlns:a16="http://schemas.microsoft.com/office/drawing/2014/main" id="{FA49C5E1-D1CF-E9ED-9EF9-44954B081172}"/>
              </a:ext>
            </a:extLst>
          </p:cNvPr>
          <p:cNvSpPr/>
          <p:nvPr/>
        </p:nvSpPr>
        <p:spPr>
          <a:xfrm>
            <a:off x="8186" y="199899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6" name="Google Shape;244;p30">
            <a:extLst>
              <a:ext uri="{FF2B5EF4-FFF2-40B4-BE49-F238E27FC236}">
                <a16:creationId xmlns:a16="http://schemas.microsoft.com/office/drawing/2014/main" id="{2B6FD34E-A9E3-40AF-3721-D0923540BF1E}"/>
              </a:ext>
            </a:extLst>
          </p:cNvPr>
          <p:cNvSpPr/>
          <p:nvPr/>
        </p:nvSpPr>
        <p:spPr>
          <a:xfrm>
            <a:off x="-20689" y="1520122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7" name="Google Shape;244;p30">
            <a:extLst>
              <a:ext uri="{FF2B5EF4-FFF2-40B4-BE49-F238E27FC236}">
                <a16:creationId xmlns:a16="http://schemas.microsoft.com/office/drawing/2014/main" id="{55529912-27D2-EF12-1F77-AFA2E7AE2012}"/>
              </a:ext>
            </a:extLst>
          </p:cNvPr>
          <p:cNvSpPr/>
          <p:nvPr/>
        </p:nvSpPr>
        <p:spPr>
          <a:xfrm>
            <a:off x="-13417" y="3714625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Google Shape;244;p30">
            <a:extLst>
              <a:ext uri="{FF2B5EF4-FFF2-40B4-BE49-F238E27FC236}">
                <a16:creationId xmlns:a16="http://schemas.microsoft.com/office/drawing/2014/main" id="{69D1B8F0-81D2-DBBD-0870-FD1780717BAC}"/>
              </a:ext>
            </a:extLst>
          </p:cNvPr>
          <p:cNvSpPr/>
          <p:nvPr/>
        </p:nvSpPr>
        <p:spPr>
          <a:xfrm>
            <a:off x="-20689" y="821918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</p:sp>
      <p:sp>
        <p:nvSpPr>
          <p:cNvPr id="9" name="Google Shape;244;p30">
            <a:extLst>
              <a:ext uri="{FF2B5EF4-FFF2-40B4-BE49-F238E27FC236}">
                <a16:creationId xmlns:a16="http://schemas.microsoft.com/office/drawing/2014/main" id="{1D805DFC-EE48-12D4-E7D4-7D4DE8B8C52F}"/>
              </a:ext>
            </a:extLst>
          </p:cNvPr>
          <p:cNvSpPr/>
          <p:nvPr/>
        </p:nvSpPr>
        <p:spPr>
          <a:xfrm>
            <a:off x="-21577" y="2050178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Google Shape;244;p30">
            <a:extLst>
              <a:ext uri="{FF2B5EF4-FFF2-40B4-BE49-F238E27FC236}">
                <a16:creationId xmlns:a16="http://schemas.microsoft.com/office/drawing/2014/main" id="{A4602528-E60D-6FF2-545B-5079B329DAED}"/>
              </a:ext>
            </a:extLst>
          </p:cNvPr>
          <p:cNvSpPr/>
          <p:nvPr/>
        </p:nvSpPr>
        <p:spPr>
          <a:xfrm>
            <a:off x="-40426" y="2645479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Google Shape;244;p30">
            <a:extLst>
              <a:ext uri="{FF2B5EF4-FFF2-40B4-BE49-F238E27FC236}">
                <a16:creationId xmlns:a16="http://schemas.microsoft.com/office/drawing/2014/main" id="{735176CA-ED86-6F5E-D14D-6F2732A99DB0}"/>
              </a:ext>
            </a:extLst>
          </p:cNvPr>
          <p:cNvSpPr/>
          <p:nvPr/>
        </p:nvSpPr>
        <p:spPr>
          <a:xfrm>
            <a:off x="20617" y="4230787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Google Shape;244;p30">
            <a:extLst>
              <a:ext uri="{FF2B5EF4-FFF2-40B4-BE49-F238E27FC236}">
                <a16:creationId xmlns:a16="http://schemas.microsoft.com/office/drawing/2014/main" id="{EF4B8110-99D5-AB51-963B-DAC1357CE9D6}"/>
              </a:ext>
            </a:extLst>
          </p:cNvPr>
          <p:cNvSpPr/>
          <p:nvPr/>
        </p:nvSpPr>
        <p:spPr>
          <a:xfrm>
            <a:off x="-5987" y="4601729"/>
            <a:ext cx="431129" cy="290439"/>
          </a:xfrm>
          <a:custGeom>
            <a:avLst/>
            <a:gdLst/>
            <a:ahLst/>
            <a:cxnLst/>
            <a:rect l="l" t="t" r="r" b="b"/>
            <a:pathLst>
              <a:path w="862258" h="580879" extrusionOk="0">
                <a:moveTo>
                  <a:pt x="0" y="0"/>
                </a:moveTo>
                <a:lnTo>
                  <a:pt x="862258" y="0"/>
                </a:lnTo>
                <a:lnTo>
                  <a:pt x="862258" y="580879"/>
                </a:lnTo>
                <a:lnTo>
                  <a:pt x="0" y="5808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3509" r="-175133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"/>
          <p:cNvSpPr/>
          <p:nvPr/>
        </p:nvSpPr>
        <p:spPr>
          <a:xfrm>
            <a:off x="238351" y="-109319"/>
            <a:ext cx="3079267" cy="1723879"/>
          </a:xfrm>
          <a:custGeom>
            <a:avLst/>
            <a:gdLst/>
            <a:ahLst/>
            <a:cxnLst/>
            <a:rect l="l" t="t" r="r" b="b"/>
            <a:pathLst>
              <a:path w="1451858" h="812800" extrusionOk="0">
                <a:moveTo>
                  <a:pt x="28913" y="0"/>
                </a:moveTo>
                <a:lnTo>
                  <a:pt x="1422944" y="0"/>
                </a:lnTo>
                <a:cubicBezTo>
                  <a:pt x="1438913" y="0"/>
                  <a:pt x="1451858" y="12945"/>
                  <a:pt x="1451858" y="28913"/>
                </a:cubicBezTo>
                <a:lnTo>
                  <a:pt x="1451858" y="783887"/>
                </a:lnTo>
                <a:cubicBezTo>
                  <a:pt x="1451858" y="799855"/>
                  <a:pt x="1438913" y="812800"/>
                  <a:pt x="1422944" y="812800"/>
                </a:cubicBezTo>
                <a:lnTo>
                  <a:pt x="28913" y="812800"/>
                </a:lnTo>
                <a:cubicBezTo>
                  <a:pt x="12945" y="812800"/>
                  <a:pt x="0" y="799855"/>
                  <a:pt x="0" y="783887"/>
                </a:cubicBezTo>
                <a:lnTo>
                  <a:pt x="0" y="28913"/>
                </a:lnTo>
                <a:cubicBezTo>
                  <a:pt x="0" y="12945"/>
                  <a:pt x="12945" y="0"/>
                  <a:pt x="2891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235" t="-108972" r="-229347" b="-190661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238351" y="1710528"/>
            <a:ext cx="3079267" cy="1723879"/>
          </a:xfrm>
          <a:custGeom>
            <a:avLst/>
            <a:gdLst/>
            <a:ahLst/>
            <a:cxnLst/>
            <a:rect l="l" t="t" r="r" b="b"/>
            <a:pathLst>
              <a:path w="1451858" h="812800" extrusionOk="0">
                <a:moveTo>
                  <a:pt x="28913" y="0"/>
                </a:moveTo>
                <a:lnTo>
                  <a:pt x="1422944" y="0"/>
                </a:lnTo>
                <a:cubicBezTo>
                  <a:pt x="1438913" y="0"/>
                  <a:pt x="1451858" y="12945"/>
                  <a:pt x="1451858" y="28913"/>
                </a:cubicBezTo>
                <a:lnTo>
                  <a:pt x="1451858" y="783887"/>
                </a:lnTo>
                <a:cubicBezTo>
                  <a:pt x="1451858" y="799855"/>
                  <a:pt x="1438913" y="812800"/>
                  <a:pt x="1422944" y="812800"/>
                </a:cubicBezTo>
                <a:lnTo>
                  <a:pt x="28913" y="812800"/>
                </a:lnTo>
                <a:cubicBezTo>
                  <a:pt x="12945" y="812800"/>
                  <a:pt x="0" y="799855"/>
                  <a:pt x="0" y="783887"/>
                </a:cubicBezTo>
                <a:lnTo>
                  <a:pt x="0" y="28913"/>
                </a:lnTo>
                <a:cubicBezTo>
                  <a:pt x="0" y="12945"/>
                  <a:pt x="12945" y="0"/>
                  <a:pt x="2891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101319" t="-97950" r="-99180" b="-159896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238351" y="3529657"/>
            <a:ext cx="3079267" cy="1723879"/>
          </a:xfrm>
          <a:custGeom>
            <a:avLst/>
            <a:gdLst/>
            <a:ahLst/>
            <a:cxnLst/>
            <a:rect l="l" t="t" r="r" b="b"/>
            <a:pathLst>
              <a:path w="1451858" h="812800" extrusionOk="0">
                <a:moveTo>
                  <a:pt x="28913" y="0"/>
                </a:moveTo>
                <a:lnTo>
                  <a:pt x="1422944" y="0"/>
                </a:lnTo>
                <a:cubicBezTo>
                  <a:pt x="1438913" y="0"/>
                  <a:pt x="1451858" y="12945"/>
                  <a:pt x="1451858" y="28913"/>
                </a:cubicBezTo>
                <a:lnTo>
                  <a:pt x="1451858" y="783887"/>
                </a:lnTo>
                <a:cubicBezTo>
                  <a:pt x="1451858" y="799855"/>
                  <a:pt x="1438913" y="812800"/>
                  <a:pt x="1422944" y="812800"/>
                </a:cubicBezTo>
                <a:lnTo>
                  <a:pt x="28913" y="812800"/>
                </a:lnTo>
                <a:cubicBezTo>
                  <a:pt x="12945" y="812800"/>
                  <a:pt x="0" y="799855"/>
                  <a:pt x="0" y="783887"/>
                </a:cubicBezTo>
                <a:lnTo>
                  <a:pt x="0" y="28913"/>
                </a:lnTo>
                <a:cubicBezTo>
                  <a:pt x="0" y="12945"/>
                  <a:pt x="12945" y="0"/>
                  <a:pt x="2891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9088" t="-73181" r="-1588" b="-123362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31"/>
          <p:cNvGrpSpPr/>
          <p:nvPr/>
        </p:nvGrpSpPr>
        <p:grpSpPr>
          <a:xfrm>
            <a:off x="-336837" y="4746711"/>
            <a:ext cx="470414" cy="470414"/>
            <a:chOff x="0" y="0"/>
            <a:chExt cx="812800" cy="812800"/>
          </a:xfrm>
        </p:grpSpPr>
        <p:sp>
          <p:nvSpPr>
            <p:cNvPr id="263" name="Google Shape;263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31"/>
          <p:cNvGrpSpPr/>
          <p:nvPr/>
        </p:nvGrpSpPr>
        <p:grpSpPr>
          <a:xfrm>
            <a:off x="4188062" y="1710528"/>
            <a:ext cx="298861" cy="298861"/>
            <a:chOff x="0" y="0"/>
            <a:chExt cx="812800" cy="812800"/>
          </a:xfrm>
        </p:grpSpPr>
        <p:sp>
          <p:nvSpPr>
            <p:cNvPr id="266" name="Google Shape;266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31"/>
          <p:cNvGrpSpPr/>
          <p:nvPr/>
        </p:nvGrpSpPr>
        <p:grpSpPr>
          <a:xfrm>
            <a:off x="4167144" y="2296071"/>
            <a:ext cx="298861" cy="298862"/>
            <a:chOff x="0" y="0"/>
            <a:chExt cx="812800" cy="812800"/>
          </a:xfrm>
        </p:grpSpPr>
        <p:sp>
          <p:nvSpPr>
            <p:cNvPr id="269" name="Google Shape;269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31"/>
          <p:cNvGrpSpPr/>
          <p:nvPr/>
        </p:nvGrpSpPr>
        <p:grpSpPr>
          <a:xfrm>
            <a:off x="4167144" y="2976186"/>
            <a:ext cx="298861" cy="298861"/>
            <a:chOff x="0" y="0"/>
            <a:chExt cx="812800" cy="812800"/>
          </a:xfrm>
        </p:grpSpPr>
        <p:sp>
          <p:nvSpPr>
            <p:cNvPr id="272" name="Google Shape;272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31"/>
          <p:cNvGrpSpPr/>
          <p:nvPr/>
        </p:nvGrpSpPr>
        <p:grpSpPr>
          <a:xfrm>
            <a:off x="4167144" y="3706487"/>
            <a:ext cx="298861" cy="298861"/>
            <a:chOff x="0" y="0"/>
            <a:chExt cx="812800" cy="812800"/>
          </a:xfrm>
        </p:grpSpPr>
        <p:sp>
          <p:nvSpPr>
            <p:cNvPr id="275" name="Google Shape;275;p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31"/>
          <p:cNvGrpSpPr/>
          <p:nvPr/>
        </p:nvGrpSpPr>
        <p:grpSpPr>
          <a:xfrm>
            <a:off x="4188062" y="4507046"/>
            <a:ext cx="298861" cy="246474"/>
            <a:chOff x="0" y="0"/>
            <a:chExt cx="812800" cy="670324"/>
          </a:xfrm>
        </p:grpSpPr>
        <p:sp>
          <p:nvSpPr>
            <p:cNvPr id="278" name="Google Shape;278;p31"/>
            <p:cNvSpPr/>
            <p:nvPr/>
          </p:nvSpPr>
          <p:spPr>
            <a:xfrm>
              <a:off x="0" y="0"/>
              <a:ext cx="812800" cy="670324"/>
            </a:xfrm>
            <a:custGeom>
              <a:avLst/>
              <a:gdLst/>
              <a:ahLst/>
              <a:cxnLst/>
              <a:rect l="l" t="t" r="r" b="b"/>
              <a:pathLst>
                <a:path w="812800" h="670324" extrusionOk="0">
                  <a:moveTo>
                    <a:pt x="406400" y="0"/>
                  </a:moveTo>
                  <a:cubicBezTo>
                    <a:pt x="181951" y="0"/>
                    <a:pt x="0" y="150057"/>
                    <a:pt x="0" y="335162"/>
                  </a:cubicBezTo>
                  <a:cubicBezTo>
                    <a:pt x="0" y="520267"/>
                    <a:pt x="181951" y="670324"/>
                    <a:pt x="406400" y="670324"/>
                  </a:cubicBezTo>
                  <a:cubicBezTo>
                    <a:pt x="630849" y="670324"/>
                    <a:pt x="812800" y="520267"/>
                    <a:pt x="812800" y="335162"/>
                  </a:cubicBezTo>
                  <a:cubicBezTo>
                    <a:pt x="812800" y="15005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985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 txBox="1"/>
            <p:nvPr/>
          </p:nvSpPr>
          <p:spPr>
            <a:xfrm>
              <a:off x="76200" y="24743"/>
              <a:ext cx="660400" cy="582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31"/>
          <p:cNvSpPr/>
          <p:nvPr/>
        </p:nvSpPr>
        <p:spPr>
          <a:xfrm>
            <a:off x="8065125" y="240187"/>
            <a:ext cx="1341747" cy="1374363"/>
          </a:xfrm>
          <a:custGeom>
            <a:avLst/>
            <a:gdLst/>
            <a:ahLst/>
            <a:cxnLst/>
            <a:rect l="l" t="t" r="r" b="b"/>
            <a:pathLst>
              <a:path w="3626343" h="3898903" extrusionOk="0">
                <a:moveTo>
                  <a:pt x="0" y="0"/>
                </a:moveTo>
                <a:lnTo>
                  <a:pt x="3626343" y="0"/>
                </a:lnTo>
                <a:lnTo>
                  <a:pt x="3626343" y="3898903"/>
                </a:lnTo>
                <a:lnTo>
                  <a:pt x="0" y="38989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1" name="Google Shape;281;p31"/>
          <p:cNvSpPr txBox="1"/>
          <p:nvPr/>
        </p:nvSpPr>
        <p:spPr>
          <a:xfrm>
            <a:off x="3874150" y="323613"/>
            <a:ext cx="4285200" cy="12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PREPROCESSING </a:t>
            </a:r>
            <a:endParaRPr sz="300"/>
          </a:p>
        </p:txBody>
      </p:sp>
      <p:sp>
        <p:nvSpPr>
          <p:cNvPr id="282" name="Google Shape;282;p31"/>
          <p:cNvSpPr txBox="1"/>
          <p:nvPr/>
        </p:nvSpPr>
        <p:spPr>
          <a:xfrm>
            <a:off x="4572000" y="1746013"/>
            <a:ext cx="2228693" cy="224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Resampling to 16 kHz mono</a:t>
            </a:r>
            <a:endParaRPr sz="700"/>
          </a:p>
        </p:txBody>
      </p:sp>
      <p:sp>
        <p:nvSpPr>
          <p:cNvPr id="283" name="Google Shape;283;p31"/>
          <p:cNvSpPr txBox="1"/>
          <p:nvPr/>
        </p:nvSpPr>
        <p:spPr>
          <a:xfrm>
            <a:off x="4572000" y="2277483"/>
            <a:ext cx="2228693" cy="430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Voice Activity Detection (VAD) → removes silence</a:t>
            </a:r>
            <a:endParaRPr sz="700"/>
          </a:p>
        </p:txBody>
      </p:sp>
      <p:sp>
        <p:nvSpPr>
          <p:cNvPr id="284" name="Google Shape;284;p31"/>
          <p:cNvSpPr txBox="1"/>
          <p:nvPr/>
        </p:nvSpPr>
        <p:spPr>
          <a:xfrm>
            <a:off x="4252319" y="1792017"/>
            <a:ext cx="170349" cy="1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B0704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sz="700"/>
          </a:p>
        </p:txBody>
      </p:sp>
      <p:sp>
        <p:nvSpPr>
          <p:cNvPr id="285" name="Google Shape;285;p31"/>
          <p:cNvSpPr txBox="1"/>
          <p:nvPr/>
        </p:nvSpPr>
        <p:spPr>
          <a:xfrm>
            <a:off x="4572000" y="2950583"/>
            <a:ext cx="2228693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Standardizing duration to 5 seconds</a:t>
            </a:r>
            <a:endParaRPr sz="700"/>
          </a:p>
        </p:txBody>
      </p:sp>
      <p:sp>
        <p:nvSpPr>
          <p:cNvPr id="286" name="Google Shape;286;p31"/>
          <p:cNvSpPr txBox="1"/>
          <p:nvPr/>
        </p:nvSpPr>
        <p:spPr>
          <a:xfrm>
            <a:off x="4572000" y="3625603"/>
            <a:ext cx="2384196" cy="64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Amplitude normalization (RMS normalization (RMS = 0.1))</a:t>
            </a:r>
            <a:endParaRPr sz="70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31"/>
          <p:cNvSpPr txBox="1"/>
          <p:nvPr/>
        </p:nvSpPr>
        <p:spPr>
          <a:xfrm>
            <a:off x="4585068" y="4389618"/>
            <a:ext cx="2659316" cy="45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Pre-emphasis filter  to boosts high frequencies (α = 0.97)</a:t>
            </a:r>
            <a:endParaRPr sz="700"/>
          </a:p>
        </p:txBody>
      </p:sp>
      <p:sp>
        <p:nvSpPr>
          <p:cNvPr id="288" name="Google Shape;288;p31"/>
          <p:cNvSpPr txBox="1"/>
          <p:nvPr/>
        </p:nvSpPr>
        <p:spPr>
          <a:xfrm>
            <a:off x="4231400" y="2377560"/>
            <a:ext cx="170349" cy="1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B0704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  <a:endParaRPr sz="700"/>
          </a:p>
        </p:txBody>
      </p:sp>
      <p:sp>
        <p:nvSpPr>
          <p:cNvPr id="289" name="Google Shape;289;p31"/>
          <p:cNvSpPr txBox="1"/>
          <p:nvPr/>
        </p:nvSpPr>
        <p:spPr>
          <a:xfrm>
            <a:off x="4231400" y="3057675"/>
            <a:ext cx="170349" cy="1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B0704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  <a:endParaRPr sz="700"/>
          </a:p>
        </p:txBody>
      </p:sp>
      <p:sp>
        <p:nvSpPr>
          <p:cNvPr id="290" name="Google Shape;290;p31"/>
          <p:cNvSpPr txBox="1"/>
          <p:nvPr/>
        </p:nvSpPr>
        <p:spPr>
          <a:xfrm>
            <a:off x="4231400" y="3794161"/>
            <a:ext cx="170349" cy="1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B0704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  <a:endParaRPr sz="700"/>
          </a:p>
        </p:txBody>
      </p:sp>
      <p:sp>
        <p:nvSpPr>
          <p:cNvPr id="291" name="Google Shape;291;p31"/>
          <p:cNvSpPr txBox="1"/>
          <p:nvPr/>
        </p:nvSpPr>
        <p:spPr>
          <a:xfrm>
            <a:off x="4252319" y="4561208"/>
            <a:ext cx="170349" cy="11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 b="1" i="0" u="none" strike="noStrike" cap="none">
                <a:solidFill>
                  <a:srgbClr val="0B0704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  <a:endParaRPr sz="700"/>
          </a:p>
        </p:txBody>
      </p:sp>
      <p:sp>
        <p:nvSpPr>
          <p:cNvPr id="292" name="Google Shape;292;p31"/>
          <p:cNvSpPr/>
          <p:nvPr/>
        </p:nvSpPr>
        <p:spPr>
          <a:xfrm rot="-5400000">
            <a:off x="3195182" y="38320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3" name="Google Shape;293;p31"/>
          <p:cNvSpPr/>
          <p:nvPr/>
        </p:nvSpPr>
        <p:spPr>
          <a:xfrm rot="-5400000">
            <a:off x="3195182" y="127298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4" name="Google Shape;294;p31"/>
          <p:cNvSpPr/>
          <p:nvPr/>
        </p:nvSpPr>
        <p:spPr>
          <a:xfrm rot="-5400000">
            <a:off x="3195182" y="216276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5" name="Google Shape;295;p31"/>
          <p:cNvSpPr/>
          <p:nvPr/>
        </p:nvSpPr>
        <p:spPr>
          <a:xfrm rot="-5400000">
            <a:off x="3195182" y="3052548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6" name="Google Shape;296;p31"/>
          <p:cNvSpPr/>
          <p:nvPr/>
        </p:nvSpPr>
        <p:spPr>
          <a:xfrm rot="-5400000">
            <a:off x="3195182" y="3942328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7" name="Google Shape;297;p31"/>
          <p:cNvSpPr/>
          <p:nvPr/>
        </p:nvSpPr>
        <p:spPr>
          <a:xfrm rot="-5400000">
            <a:off x="3195182" y="4832108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298" name="Google Shape;298;p31"/>
          <p:cNvSpPr/>
          <p:nvPr/>
        </p:nvSpPr>
        <p:spPr>
          <a:xfrm rot="201610">
            <a:off x="8764392" y="4837058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3" y="0"/>
                </a:lnTo>
                <a:lnTo>
                  <a:pt x="742873" y="579441"/>
                </a:lnTo>
                <a:lnTo>
                  <a:pt x="0" y="579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"/>
          <p:cNvSpPr/>
          <p:nvPr/>
        </p:nvSpPr>
        <p:spPr>
          <a:xfrm>
            <a:off x="3158608" y="1825"/>
            <a:ext cx="1787136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2"/>
                </a:lnTo>
                <a:lnTo>
                  <a:pt x="0" y="3574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04" name="Google Shape;304;p32"/>
          <p:cNvSpPr/>
          <p:nvPr/>
        </p:nvSpPr>
        <p:spPr>
          <a:xfrm>
            <a:off x="-94795" y="271340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0" y="0"/>
                </a:lnTo>
                <a:lnTo>
                  <a:pt x="5066690" y="5066691"/>
                </a:lnTo>
                <a:lnTo>
                  <a:pt x="0" y="5066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5" name="Google Shape;305;p32"/>
          <p:cNvGrpSpPr/>
          <p:nvPr/>
        </p:nvGrpSpPr>
        <p:grpSpPr>
          <a:xfrm>
            <a:off x="6917628" y="-139614"/>
            <a:ext cx="2226372" cy="3784821"/>
            <a:chOff x="0" y="-38100"/>
            <a:chExt cx="1172739" cy="1993650"/>
          </a:xfrm>
        </p:grpSpPr>
        <p:sp>
          <p:nvSpPr>
            <p:cNvPr id="306" name="Google Shape;306;p32"/>
            <p:cNvSpPr/>
            <p:nvPr/>
          </p:nvSpPr>
          <p:spPr>
            <a:xfrm>
              <a:off x="0" y="0"/>
              <a:ext cx="1172739" cy="1955550"/>
            </a:xfrm>
            <a:custGeom>
              <a:avLst/>
              <a:gdLst/>
              <a:ahLst/>
              <a:cxnLst/>
              <a:rect l="l" t="t" r="r" b="b"/>
              <a:pathLst>
                <a:path w="1172739" h="1955550" extrusionOk="0">
                  <a:moveTo>
                    <a:pt x="0" y="0"/>
                  </a:moveTo>
                  <a:lnTo>
                    <a:pt x="1172739" y="0"/>
                  </a:lnTo>
                  <a:lnTo>
                    <a:pt x="1172739" y="1955550"/>
                  </a:lnTo>
                  <a:lnTo>
                    <a:pt x="0" y="1955550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307" name="Google Shape;307;p32"/>
            <p:cNvSpPr txBox="1"/>
            <p:nvPr/>
          </p:nvSpPr>
          <p:spPr>
            <a:xfrm>
              <a:off x="0" y="-38100"/>
              <a:ext cx="1172739" cy="19936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" name="Google Shape;309;p32"/>
          <p:cNvSpPr/>
          <p:nvPr/>
        </p:nvSpPr>
        <p:spPr>
          <a:xfrm>
            <a:off x="262825" y="1891682"/>
            <a:ext cx="8618349" cy="2554295"/>
          </a:xfrm>
          <a:custGeom>
            <a:avLst/>
            <a:gdLst/>
            <a:ahLst/>
            <a:cxnLst/>
            <a:rect l="l" t="t" r="r" b="b"/>
            <a:pathLst>
              <a:path w="2451923" h="726698" extrusionOk="0">
                <a:moveTo>
                  <a:pt x="0" y="0"/>
                </a:moveTo>
                <a:lnTo>
                  <a:pt x="2451923" y="0"/>
                </a:lnTo>
                <a:lnTo>
                  <a:pt x="2451923" y="726698"/>
                </a:lnTo>
                <a:lnTo>
                  <a:pt x="0" y="72669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89" b="-189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0" name="Google Shape;310;p32"/>
          <p:cNvSpPr/>
          <p:nvPr/>
        </p:nvSpPr>
        <p:spPr>
          <a:xfrm>
            <a:off x="334924" y="4629150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11" name="Google Shape;311;p32"/>
          <p:cNvSpPr/>
          <p:nvPr/>
        </p:nvSpPr>
        <p:spPr>
          <a:xfrm rot="-5400000">
            <a:off x="8188465" y="2781220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12" name="Google Shape;312;p32"/>
          <p:cNvSpPr/>
          <p:nvPr/>
        </p:nvSpPr>
        <p:spPr>
          <a:xfrm>
            <a:off x="8030814" y="1421900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13" name="Google Shape;313;p32"/>
          <p:cNvSpPr/>
          <p:nvPr/>
        </p:nvSpPr>
        <p:spPr>
          <a:xfrm>
            <a:off x="5298640" y="164441"/>
            <a:ext cx="3845360" cy="1519746"/>
          </a:xfrm>
          <a:custGeom>
            <a:avLst/>
            <a:gdLst/>
            <a:ahLst/>
            <a:cxnLst/>
            <a:rect l="l" t="t" r="r" b="b"/>
            <a:pathLst>
              <a:path w="7880308" h="3567630" extrusionOk="0">
                <a:moveTo>
                  <a:pt x="0" y="0"/>
                </a:moveTo>
                <a:lnTo>
                  <a:pt x="7880308" y="0"/>
                </a:lnTo>
                <a:lnTo>
                  <a:pt x="7880308" y="3567630"/>
                </a:lnTo>
                <a:lnTo>
                  <a:pt x="0" y="3567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314" name="Google Shape;314;p32"/>
          <p:cNvSpPr txBox="1"/>
          <p:nvPr/>
        </p:nvSpPr>
        <p:spPr>
          <a:xfrm>
            <a:off x="705381" y="562826"/>
            <a:ext cx="4715062" cy="126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PREPROCESSING: RAW VS PROCESSED  AUDIO</a:t>
            </a:r>
            <a:endParaRPr sz="700" dirty="0"/>
          </a:p>
        </p:txBody>
      </p:sp>
      <p:sp>
        <p:nvSpPr>
          <p:cNvPr id="315" name="Google Shape;315;p32"/>
          <p:cNvSpPr/>
          <p:nvPr/>
        </p:nvSpPr>
        <p:spPr>
          <a:xfrm rot="10800000">
            <a:off x="-3362663" y="-373180"/>
            <a:ext cx="3940154" cy="1783815"/>
          </a:xfrm>
          <a:custGeom>
            <a:avLst/>
            <a:gdLst/>
            <a:ahLst/>
            <a:cxnLst/>
            <a:rect l="l" t="t" r="r" b="b"/>
            <a:pathLst>
              <a:path w="7880308" h="3567630" extrusionOk="0">
                <a:moveTo>
                  <a:pt x="0" y="0"/>
                </a:moveTo>
                <a:lnTo>
                  <a:pt x="7880308" y="0"/>
                </a:lnTo>
                <a:lnTo>
                  <a:pt x="7880308" y="3567630"/>
                </a:lnTo>
                <a:lnTo>
                  <a:pt x="0" y="3567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16" name="Google Shape;316;p32"/>
          <p:cNvSpPr/>
          <p:nvPr/>
        </p:nvSpPr>
        <p:spPr>
          <a:xfrm rot="201610">
            <a:off x="8695455" y="4728885"/>
            <a:ext cx="371437" cy="289720"/>
          </a:xfrm>
          <a:custGeom>
            <a:avLst/>
            <a:gdLst/>
            <a:ahLst/>
            <a:cxnLst/>
            <a:rect l="l" t="t" r="r" b="b"/>
            <a:pathLst>
              <a:path w="742874" h="579441" extrusionOk="0">
                <a:moveTo>
                  <a:pt x="0" y="0"/>
                </a:moveTo>
                <a:lnTo>
                  <a:pt x="742873" y="0"/>
                </a:lnTo>
                <a:lnTo>
                  <a:pt x="742873" y="579441"/>
                </a:lnTo>
                <a:lnTo>
                  <a:pt x="0" y="5794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/>
          <p:nvPr/>
        </p:nvSpPr>
        <p:spPr>
          <a:xfrm>
            <a:off x="3878631" y="858719"/>
            <a:ext cx="1787135" cy="1787135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22" name="Google Shape;322;p33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23" name="Google Shape;323;p33"/>
          <p:cNvGrpSpPr/>
          <p:nvPr/>
        </p:nvGrpSpPr>
        <p:grpSpPr>
          <a:xfrm>
            <a:off x="0" y="4774295"/>
            <a:ext cx="5982928" cy="636314"/>
            <a:chOff x="0" y="-38100"/>
            <a:chExt cx="3151501" cy="335178"/>
          </a:xfrm>
        </p:grpSpPr>
        <p:sp>
          <p:nvSpPr>
            <p:cNvPr id="324" name="Google Shape;324;p33"/>
            <p:cNvSpPr/>
            <p:nvPr/>
          </p:nvSpPr>
          <p:spPr>
            <a:xfrm>
              <a:off x="0" y="0"/>
              <a:ext cx="3151501" cy="297078"/>
            </a:xfrm>
            <a:custGeom>
              <a:avLst/>
              <a:gdLst/>
              <a:ahLst/>
              <a:cxnLst/>
              <a:rect l="l" t="t" r="r" b="b"/>
              <a:pathLst>
                <a:path w="3151501" h="297078" extrusionOk="0">
                  <a:moveTo>
                    <a:pt x="0" y="0"/>
                  </a:moveTo>
                  <a:lnTo>
                    <a:pt x="3151501" y="0"/>
                  </a:lnTo>
                  <a:lnTo>
                    <a:pt x="3151501" y="297078"/>
                  </a:lnTo>
                  <a:lnTo>
                    <a:pt x="0" y="297078"/>
                  </a:lnTo>
                  <a:close/>
                </a:path>
              </a:pathLst>
            </a:custGeom>
            <a:solidFill>
              <a:srgbClr val="0C152A"/>
            </a:solidFill>
            <a:ln>
              <a:noFill/>
            </a:ln>
          </p:spPr>
        </p:sp>
        <p:sp>
          <p:nvSpPr>
            <p:cNvPr id="325" name="Google Shape;325;p33"/>
            <p:cNvSpPr txBox="1"/>
            <p:nvPr/>
          </p:nvSpPr>
          <p:spPr>
            <a:xfrm>
              <a:off x="0" y="-38100"/>
              <a:ext cx="3151501" cy="335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33"/>
          <p:cNvGrpSpPr/>
          <p:nvPr/>
        </p:nvGrpSpPr>
        <p:grpSpPr>
          <a:xfrm>
            <a:off x="8974392" y="20981"/>
            <a:ext cx="1665465" cy="4890322"/>
            <a:chOff x="0" y="-38100"/>
            <a:chExt cx="877282" cy="2575972"/>
          </a:xfrm>
        </p:grpSpPr>
        <p:sp>
          <p:nvSpPr>
            <p:cNvPr id="328" name="Google Shape;328;p33"/>
            <p:cNvSpPr/>
            <p:nvPr/>
          </p:nvSpPr>
          <p:spPr>
            <a:xfrm>
              <a:off x="0" y="0"/>
              <a:ext cx="877282" cy="2537872"/>
            </a:xfrm>
            <a:custGeom>
              <a:avLst/>
              <a:gdLst/>
              <a:ahLst/>
              <a:cxnLst/>
              <a:rect l="l" t="t" r="r" b="b"/>
              <a:pathLst>
                <a:path w="877282" h="2537872" extrusionOk="0">
                  <a:moveTo>
                    <a:pt x="0" y="0"/>
                  </a:moveTo>
                  <a:lnTo>
                    <a:pt x="877282" y="0"/>
                  </a:lnTo>
                  <a:lnTo>
                    <a:pt x="877282" y="2537872"/>
                  </a:lnTo>
                  <a:lnTo>
                    <a:pt x="0" y="25378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9" name="Google Shape;329;p33"/>
            <p:cNvSpPr txBox="1"/>
            <p:nvPr/>
          </p:nvSpPr>
          <p:spPr>
            <a:xfrm>
              <a:off x="0" y="-38100"/>
              <a:ext cx="877282" cy="25759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33"/>
          <p:cNvSpPr/>
          <p:nvPr/>
        </p:nvSpPr>
        <p:spPr>
          <a:xfrm rot="-5400000">
            <a:off x="-76761" y="3622298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33" name="Google Shape;333;p33"/>
          <p:cNvSpPr/>
          <p:nvPr/>
        </p:nvSpPr>
        <p:spPr>
          <a:xfrm>
            <a:off x="445811" y="749766"/>
            <a:ext cx="7866966" cy="2340423"/>
          </a:xfrm>
          <a:custGeom>
            <a:avLst/>
            <a:gdLst/>
            <a:ahLst/>
            <a:cxnLst/>
            <a:rect l="l" t="t" r="r" b="b"/>
            <a:pathLst>
              <a:path w="15733932" h="4680845" extrusionOk="0">
                <a:moveTo>
                  <a:pt x="0" y="0"/>
                </a:moveTo>
                <a:lnTo>
                  <a:pt x="15733932" y="0"/>
                </a:lnTo>
                <a:lnTo>
                  <a:pt x="15733932" y="4680844"/>
                </a:lnTo>
                <a:lnTo>
                  <a:pt x="0" y="46808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4" name="Google Shape;334;p33"/>
          <p:cNvSpPr txBox="1"/>
          <p:nvPr/>
        </p:nvSpPr>
        <p:spPr>
          <a:xfrm>
            <a:off x="572945" y="217456"/>
            <a:ext cx="7998109" cy="37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: WAVEFORMS &amp; SPECTROGRAMS</a:t>
            </a:r>
            <a:endParaRPr sz="700" dirty="0"/>
          </a:p>
        </p:txBody>
      </p:sp>
      <p:sp>
        <p:nvSpPr>
          <p:cNvPr id="335" name="Google Shape;335;p33"/>
          <p:cNvSpPr txBox="1"/>
          <p:nvPr/>
        </p:nvSpPr>
        <p:spPr>
          <a:xfrm>
            <a:off x="395927" y="3229650"/>
            <a:ext cx="3983367" cy="1521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6700" marR="0" lvl="1" indent="-1270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Waveforms and spectrograms show acoustic patterns of each language</a:t>
            </a:r>
            <a:endParaRPr sz="700" dirty="0"/>
          </a:p>
          <a:p>
            <a:pPr marL="266700" marR="0" lvl="1" indent="-1270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Dravidian languages show energy concentrated in 1–3 kHz range</a:t>
            </a:r>
            <a:endParaRPr sz="700" dirty="0"/>
          </a:p>
          <a:p>
            <a:pPr marL="266700" marR="0" lvl="1" indent="-1270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English shows more high-frequency distribution</a:t>
            </a:r>
            <a:endParaRPr sz="700" dirty="0"/>
          </a:p>
          <a:p>
            <a:pPr marL="266700" marR="0" lvl="1" indent="-12700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language has distinct spectral signatures</a:t>
            </a:r>
            <a:endParaRPr sz="700" dirty="0"/>
          </a:p>
          <a:p>
            <a:pPr marL="0" marR="0" lvl="0" indent="0" algn="l" rtl="0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323;p33">
            <a:extLst>
              <a:ext uri="{FF2B5EF4-FFF2-40B4-BE49-F238E27FC236}">
                <a16:creationId xmlns:a16="http://schemas.microsoft.com/office/drawing/2014/main" id="{44380A52-E2B1-D5D9-2959-7C428D6A6EA6}"/>
              </a:ext>
            </a:extLst>
          </p:cNvPr>
          <p:cNvGrpSpPr/>
          <p:nvPr/>
        </p:nvGrpSpPr>
        <p:grpSpPr>
          <a:xfrm>
            <a:off x="5982928" y="4797882"/>
            <a:ext cx="5982928" cy="636314"/>
            <a:chOff x="0" y="-38100"/>
            <a:chExt cx="3151501" cy="335178"/>
          </a:xfrm>
        </p:grpSpPr>
        <p:sp>
          <p:nvSpPr>
            <p:cNvPr id="3" name="Google Shape;324;p33">
              <a:extLst>
                <a:ext uri="{FF2B5EF4-FFF2-40B4-BE49-F238E27FC236}">
                  <a16:creationId xmlns:a16="http://schemas.microsoft.com/office/drawing/2014/main" id="{9C0520B6-BB0E-ABE3-EEBC-67896BE1C771}"/>
                </a:ext>
              </a:extLst>
            </p:cNvPr>
            <p:cNvSpPr/>
            <p:nvPr/>
          </p:nvSpPr>
          <p:spPr>
            <a:xfrm>
              <a:off x="0" y="0"/>
              <a:ext cx="3151501" cy="297078"/>
            </a:xfrm>
            <a:custGeom>
              <a:avLst/>
              <a:gdLst/>
              <a:ahLst/>
              <a:cxnLst/>
              <a:rect l="l" t="t" r="r" b="b"/>
              <a:pathLst>
                <a:path w="3151501" h="297078" extrusionOk="0">
                  <a:moveTo>
                    <a:pt x="0" y="0"/>
                  </a:moveTo>
                  <a:lnTo>
                    <a:pt x="3151501" y="0"/>
                  </a:lnTo>
                  <a:lnTo>
                    <a:pt x="3151501" y="297078"/>
                  </a:lnTo>
                  <a:lnTo>
                    <a:pt x="0" y="297078"/>
                  </a:lnTo>
                  <a:close/>
                </a:path>
              </a:pathLst>
            </a:custGeom>
            <a:solidFill>
              <a:srgbClr val="0C152A"/>
            </a:solidFill>
            <a:ln>
              <a:noFill/>
            </a:ln>
          </p:spPr>
        </p:sp>
        <p:sp>
          <p:nvSpPr>
            <p:cNvPr id="4" name="Google Shape;325;p33">
              <a:extLst>
                <a:ext uri="{FF2B5EF4-FFF2-40B4-BE49-F238E27FC236}">
                  <a16:creationId xmlns:a16="http://schemas.microsoft.com/office/drawing/2014/main" id="{FBB98602-1410-9516-39CE-D28C14218130}"/>
                </a:ext>
              </a:extLst>
            </p:cNvPr>
            <p:cNvSpPr txBox="1"/>
            <p:nvPr/>
          </p:nvSpPr>
          <p:spPr>
            <a:xfrm>
              <a:off x="0" y="-38100"/>
              <a:ext cx="3151501" cy="335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Google Shape;331;p33">
            <a:extLst>
              <a:ext uri="{FF2B5EF4-FFF2-40B4-BE49-F238E27FC236}">
                <a16:creationId xmlns:a16="http://schemas.microsoft.com/office/drawing/2014/main" id="{75B29935-6FA8-FBCC-9B66-38F9CD3BDBF7}"/>
              </a:ext>
            </a:extLst>
          </p:cNvPr>
          <p:cNvSpPr/>
          <p:nvPr/>
        </p:nvSpPr>
        <p:spPr>
          <a:xfrm rot="16200000">
            <a:off x="34826" y="4360694"/>
            <a:ext cx="517740" cy="262287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6" name="Google Shape;332;p33">
            <a:extLst>
              <a:ext uri="{FF2B5EF4-FFF2-40B4-BE49-F238E27FC236}">
                <a16:creationId xmlns:a16="http://schemas.microsoft.com/office/drawing/2014/main" id="{CB027F44-9EBC-8043-7A1C-3C52878C62D3}"/>
              </a:ext>
            </a:extLst>
          </p:cNvPr>
          <p:cNvSpPr/>
          <p:nvPr/>
        </p:nvSpPr>
        <p:spPr>
          <a:xfrm rot="201610">
            <a:off x="8355580" y="4845101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/>
          <p:nvPr/>
        </p:nvSpPr>
        <p:spPr>
          <a:xfrm>
            <a:off x="3878631" y="858719"/>
            <a:ext cx="1787135" cy="1787135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41" name="Google Shape;341;p34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46" name="Google Shape;346;p34"/>
          <p:cNvGrpSpPr/>
          <p:nvPr/>
        </p:nvGrpSpPr>
        <p:grpSpPr>
          <a:xfrm>
            <a:off x="8818909" y="-139614"/>
            <a:ext cx="1665465" cy="5485648"/>
            <a:chOff x="0" y="-38100"/>
            <a:chExt cx="877282" cy="2889560"/>
          </a:xfrm>
        </p:grpSpPr>
        <p:sp>
          <p:nvSpPr>
            <p:cNvPr id="347" name="Google Shape;347;p34"/>
            <p:cNvSpPr/>
            <p:nvPr/>
          </p:nvSpPr>
          <p:spPr>
            <a:xfrm>
              <a:off x="0" y="0"/>
              <a:ext cx="877282" cy="2851460"/>
            </a:xfrm>
            <a:custGeom>
              <a:avLst/>
              <a:gdLst/>
              <a:ahLst/>
              <a:cxnLst/>
              <a:rect l="l" t="t" r="r" b="b"/>
              <a:pathLst>
                <a:path w="877282" h="2851460" extrusionOk="0">
                  <a:moveTo>
                    <a:pt x="0" y="0"/>
                  </a:moveTo>
                  <a:lnTo>
                    <a:pt x="877282" y="0"/>
                  </a:lnTo>
                  <a:lnTo>
                    <a:pt x="877282" y="2851460"/>
                  </a:lnTo>
                  <a:lnTo>
                    <a:pt x="0" y="28514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8" name="Google Shape;348;p34"/>
            <p:cNvSpPr txBox="1"/>
            <p:nvPr/>
          </p:nvSpPr>
          <p:spPr>
            <a:xfrm>
              <a:off x="0" y="-38100"/>
              <a:ext cx="877282" cy="2889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0" name="Google Shape;350;p34"/>
          <p:cNvSpPr/>
          <p:nvPr/>
        </p:nvSpPr>
        <p:spPr>
          <a:xfrm rot="-5400000">
            <a:off x="12749" y="3240365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51" name="Google Shape;351;p34"/>
          <p:cNvSpPr/>
          <p:nvPr/>
        </p:nvSpPr>
        <p:spPr>
          <a:xfrm rot="-5400000">
            <a:off x="37074" y="4127550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52" name="Google Shape;352;p34"/>
          <p:cNvSpPr/>
          <p:nvPr/>
        </p:nvSpPr>
        <p:spPr>
          <a:xfrm rot="201610">
            <a:off x="8401767" y="4793739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5"/>
                </a:lnTo>
                <a:lnTo>
                  <a:pt x="0" y="636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3" name="Google Shape;353;p34"/>
          <p:cNvSpPr/>
          <p:nvPr/>
        </p:nvSpPr>
        <p:spPr>
          <a:xfrm>
            <a:off x="323486" y="940767"/>
            <a:ext cx="8166210" cy="1623034"/>
          </a:xfrm>
          <a:custGeom>
            <a:avLst/>
            <a:gdLst/>
            <a:ahLst/>
            <a:cxnLst/>
            <a:rect l="l" t="t" r="r" b="b"/>
            <a:pathLst>
              <a:path w="16332419" h="3246068" extrusionOk="0">
                <a:moveTo>
                  <a:pt x="0" y="0"/>
                </a:moveTo>
                <a:lnTo>
                  <a:pt x="16332418" y="0"/>
                </a:lnTo>
                <a:lnTo>
                  <a:pt x="16332418" y="3246068"/>
                </a:lnTo>
                <a:lnTo>
                  <a:pt x="0" y="3246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4" name="Google Shape;354;p34"/>
          <p:cNvSpPr txBox="1"/>
          <p:nvPr/>
        </p:nvSpPr>
        <p:spPr>
          <a:xfrm>
            <a:off x="407532" y="353869"/>
            <a:ext cx="7998109" cy="41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: SPECTROGRAM GRID</a:t>
            </a:r>
            <a:endParaRPr sz="700"/>
          </a:p>
        </p:txBody>
      </p:sp>
      <p:sp>
        <p:nvSpPr>
          <p:cNvPr id="355" name="Google Shape;355;p34"/>
          <p:cNvSpPr txBox="1"/>
          <p:nvPr/>
        </p:nvSpPr>
        <p:spPr>
          <a:xfrm>
            <a:off x="588633" y="2829873"/>
            <a:ext cx="3983367" cy="204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79400" marR="0" lvl="1" indent="-14605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Spectrograms show frequency patterns across different languages</a:t>
            </a:r>
            <a:endParaRPr sz="700"/>
          </a:p>
          <a:p>
            <a:pPr marL="279400" marR="0" lvl="1" indent="-14605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direct comparison of spectral energy distribution</a:t>
            </a:r>
            <a:endParaRPr sz="700"/>
          </a:p>
          <a:p>
            <a:pPr marL="279400" marR="0" lvl="1" indent="-14605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language exhibits distinct acoustic signatures</a:t>
            </a:r>
            <a:endParaRPr sz="700"/>
          </a:p>
          <a:p>
            <a:pPr marL="279400" marR="0" lvl="1" indent="-14605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These patterns are captured using MFCC features</a:t>
            </a:r>
            <a:endParaRPr sz="700"/>
          </a:p>
          <a:p>
            <a:pPr marL="0" marR="0" lvl="0" indent="0" algn="l" rtl="0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/>
          <p:nvPr/>
        </p:nvSpPr>
        <p:spPr>
          <a:xfrm>
            <a:off x="3878631" y="858719"/>
            <a:ext cx="1787135" cy="1787135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61" name="Google Shape;361;p35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66" name="Google Shape;366;p35"/>
          <p:cNvSpPr/>
          <p:nvPr/>
        </p:nvSpPr>
        <p:spPr>
          <a:xfrm rot="-5400000">
            <a:off x="1210880" y="89423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grpSp>
        <p:nvGrpSpPr>
          <p:cNvPr id="367" name="Google Shape;367;p35"/>
          <p:cNvGrpSpPr/>
          <p:nvPr/>
        </p:nvGrpSpPr>
        <p:grpSpPr>
          <a:xfrm rot="-5400000">
            <a:off x="-4535396" y="-28210"/>
            <a:ext cx="9707106" cy="636314"/>
            <a:chOff x="-128165" y="0"/>
            <a:chExt cx="5113208" cy="335178"/>
          </a:xfrm>
        </p:grpSpPr>
        <p:sp>
          <p:nvSpPr>
            <p:cNvPr id="368" name="Google Shape;368;p35"/>
            <p:cNvSpPr/>
            <p:nvPr/>
          </p:nvSpPr>
          <p:spPr>
            <a:xfrm>
              <a:off x="0" y="0"/>
              <a:ext cx="4985043" cy="297078"/>
            </a:xfrm>
            <a:custGeom>
              <a:avLst/>
              <a:gdLst/>
              <a:ahLst/>
              <a:cxnLst/>
              <a:rect l="l" t="t" r="r" b="b"/>
              <a:pathLst>
                <a:path w="4985043" h="297078" extrusionOk="0">
                  <a:moveTo>
                    <a:pt x="0" y="0"/>
                  </a:moveTo>
                  <a:lnTo>
                    <a:pt x="4985043" y="0"/>
                  </a:lnTo>
                  <a:lnTo>
                    <a:pt x="4985043" y="297078"/>
                  </a:lnTo>
                  <a:lnTo>
                    <a:pt x="0" y="297078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369" name="Google Shape;369;p35"/>
            <p:cNvSpPr txBox="1"/>
            <p:nvPr/>
          </p:nvSpPr>
          <p:spPr>
            <a:xfrm>
              <a:off x="-128165" y="0"/>
              <a:ext cx="4985043" cy="3351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35"/>
          <p:cNvSpPr/>
          <p:nvPr/>
        </p:nvSpPr>
        <p:spPr>
          <a:xfrm rot="201610">
            <a:off x="8638630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1" name="Google Shape;371;p35"/>
          <p:cNvSpPr/>
          <p:nvPr/>
        </p:nvSpPr>
        <p:spPr>
          <a:xfrm>
            <a:off x="1946894" y="671445"/>
            <a:ext cx="5650630" cy="2380328"/>
          </a:xfrm>
          <a:custGeom>
            <a:avLst/>
            <a:gdLst/>
            <a:ahLst/>
            <a:cxnLst/>
            <a:rect l="l" t="t" r="r" b="b"/>
            <a:pathLst>
              <a:path w="11301259" h="4760655" extrusionOk="0">
                <a:moveTo>
                  <a:pt x="0" y="0"/>
                </a:moveTo>
                <a:lnTo>
                  <a:pt x="11301259" y="0"/>
                </a:lnTo>
                <a:lnTo>
                  <a:pt x="11301259" y="4760655"/>
                </a:lnTo>
                <a:lnTo>
                  <a:pt x="0" y="47606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2" name="Google Shape;372;p35"/>
          <p:cNvSpPr txBox="1"/>
          <p:nvPr/>
        </p:nvSpPr>
        <p:spPr>
          <a:xfrm>
            <a:off x="2504034" y="166282"/>
            <a:ext cx="7998109" cy="37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: MFCC PROFILES</a:t>
            </a:r>
            <a:endParaRPr sz="700"/>
          </a:p>
        </p:txBody>
      </p:sp>
      <p:sp>
        <p:nvSpPr>
          <p:cNvPr id="373" name="Google Shape;373;p35"/>
          <p:cNvSpPr txBox="1"/>
          <p:nvPr/>
        </p:nvSpPr>
        <p:spPr>
          <a:xfrm>
            <a:off x="1737869" y="3178835"/>
            <a:ext cx="5668263" cy="1754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17500" marR="0" lvl="1" indent="-16510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features show clear variation across languages</a:t>
            </a:r>
            <a:endParaRPr sz="700"/>
          </a:p>
          <a:p>
            <a:pPr marL="317500" marR="0" lvl="1" indent="-16510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Lower-order coefficients (C1–C5) capture overall spectral shape</a:t>
            </a:r>
            <a:endParaRPr sz="700"/>
          </a:p>
          <a:p>
            <a:pPr marL="317500" marR="0" lvl="1" indent="-16510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Languages form distinct but slightly overlapping patterns</a:t>
            </a:r>
            <a:endParaRPr sz="700"/>
          </a:p>
          <a:p>
            <a:pPr marL="317500" marR="0" lvl="1" indent="-16510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Dravidian languages cluster together but are still distinguishable</a:t>
            </a:r>
            <a:endParaRPr sz="700"/>
          </a:p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66;p35">
            <a:extLst>
              <a:ext uri="{FF2B5EF4-FFF2-40B4-BE49-F238E27FC236}">
                <a16:creationId xmlns:a16="http://schemas.microsoft.com/office/drawing/2014/main" id="{15345015-F29F-1F15-FAC5-8B44426B160C}"/>
              </a:ext>
            </a:extLst>
          </p:cNvPr>
          <p:cNvSpPr/>
          <p:nvPr/>
        </p:nvSpPr>
        <p:spPr>
          <a:xfrm rot="16200000">
            <a:off x="1176018" y="270962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" name="Google Shape;366;p35">
            <a:extLst>
              <a:ext uri="{FF2B5EF4-FFF2-40B4-BE49-F238E27FC236}">
                <a16:creationId xmlns:a16="http://schemas.microsoft.com/office/drawing/2014/main" id="{C45F15D8-3E09-6062-3132-4E24125FAA31}"/>
              </a:ext>
            </a:extLst>
          </p:cNvPr>
          <p:cNvSpPr/>
          <p:nvPr/>
        </p:nvSpPr>
        <p:spPr>
          <a:xfrm rot="16200000">
            <a:off x="1176018" y="1801927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/>
          <p:nvPr/>
        </p:nvSpPr>
        <p:spPr>
          <a:xfrm>
            <a:off x="3782938" y="1069742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2"/>
                </a:lnTo>
                <a:lnTo>
                  <a:pt x="0" y="3574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79" name="Google Shape;379;p36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0" name="Google Shape;380;p36"/>
          <p:cNvGrpSpPr/>
          <p:nvPr/>
        </p:nvGrpSpPr>
        <p:grpSpPr>
          <a:xfrm>
            <a:off x="0" y="4709720"/>
            <a:ext cx="8818909" cy="636314"/>
            <a:chOff x="0" y="-38100"/>
            <a:chExt cx="4645351" cy="335178"/>
          </a:xfrm>
        </p:grpSpPr>
        <p:sp>
          <p:nvSpPr>
            <p:cNvPr id="381" name="Google Shape;381;p36"/>
            <p:cNvSpPr/>
            <p:nvPr/>
          </p:nvSpPr>
          <p:spPr>
            <a:xfrm>
              <a:off x="0" y="0"/>
              <a:ext cx="4645351" cy="297078"/>
            </a:xfrm>
            <a:custGeom>
              <a:avLst/>
              <a:gdLst/>
              <a:ahLst/>
              <a:cxnLst/>
              <a:rect l="l" t="t" r="r" b="b"/>
              <a:pathLst>
                <a:path w="4645351" h="297078" extrusionOk="0">
                  <a:moveTo>
                    <a:pt x="0" y="0"/>
                  </a:moveTo>
                  <a:lnTo>
                    <a:pt x="4645351" y="0"/>
                  </a:lnTo>
                  <a:lnTo>
                    <a:pt x="4645351" y="297078"/>
                  </a:lnTo>
                  <a:lnTo>
                    <a:pt x="0" y="297078"/>
                  </a:lnTo>
                  <a:close/>
                </a:path>
              </a:pathLst>
            </a:custGeom>
            <a:solidFill>
              <a:srgbClr val="0C152A"/>
            </a:solidFill>
            <a:ln>
              <a:noFill/>
            </a:ln>
          </p:spPr>
        </p:sp>
        <p:sp>
          <p:nvSpPr>
            <p:cNvPr id="382" name="Google Shape;382;p36"/>
            <p:cNvSpPr txBox="1"/>
            <p:nvPr/>
          </p:nvSpPr>
          <p:spPr>
            <a:xfrm>
              <a:off x="0" y="-38100"/>
              <a:ext cx="4645351" cy="3351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36"/>
          <p:cNvGrpSpPr/>
          <p:nvPr/>
        </p:nvGrpSpPr>
        <p:grpSpPr>
          <a:xfrm>
            <a:off x="8818909" y="-139614"/>
            <a:ext cx="1665465" cy="5401432"/>
            <a:chOff x="0" y="-38100"/>
            <a:chExt cx="877282" cy="2845199"/>
          </a:xfrm>
        </p:grpSpPr>
        <p:sp>
          <p:nvSpPr>
            <p:cNvPr id="384" name="Google Shape;384;p36"/>
            <p:cNvSpPr/>
            <p:nvPr/>
          </p:nvSpPr>
          <p:spPr>
            <a:xfrm>
              <a:off x="0" y="0"/>
              <a:ext cx="877282" cy="2807099"/>
            </a:xfrm>
            <a:custGeom>
              <a:avLst/>
              <a:gdLst/>
              <a:ahLst/>
              <a:cxnLst/>
              <a:rect l="l" t="t" r="r" b="b"/>
              <a:pathLst>
                <a:path w="877282" h="2807099" extrusionOk="0">
                  <a:moveTo>
                    <a:pt x="0" y="0"/>
                  </a:moveTo>
                  <a:lnTo>
                    <a:pt x="877282" y="0"/>
                  </a:lnTo>
                  <a:lnTo>
                    <a:pt x="877282" y="2807099"/>
                  </a:lnTo>
                  <a:lnTo>
                    <a:pt x="0" y="2807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5" name="Google Shape;385;p36"/>
            <p:cNvSpPr txBox="1"/>
            <p:nvPr/>
          </p:nvSpPr>
          <p:spPr>
            <a:xfrm>
              <a:off x="0" y="-38100"/>
              <a:ext cx="877282" cy="28451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36"/>
          <p:cNvSpPr/>
          <p:nvPr/>
        </p:nvSpPr>
        <p:spPr>
          <a:xfrm rot="-5400000">
            <a:off x="8579594" y="456244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88" name="Google Shape;388;p36"/>
          <p:cNvSpPr/>
          <p:nvPr/>
        </p:nvSpPr>
        <p:spPr>
          <a:xfrm>
            <a:off x="314665" y="929848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89" name="Google Shape;389;p36"/>
          <p:cNvSpPr/>
          <p:nvPr/>
        </p:nvSpPr>
        <p:spPr>
          <a:xfrm>
            <a:off x="3825872" y="4080780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90" name="Google Shape;390;p36"/>
          <p:cNvSpPr/>
          <p:nvPr/>
        </p:nvSpPr>
        <p:spPr>
          <a:xfrm rot="201610">
            <a:off x="8335881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1" name="Google Shape;391;p36"/>
          <p:cNvSpPr/>
          <p:nvPr/>
        </p:nvSpPr>
        <p:spPr>
          <a:xfrm>
            <a:off x="248790" y="1389561"/>
            <a:ext cx="4323221" cy="2566912"/>
          </a:xfrm>
          <a:custGeom>
            <a:avLst/>
            <a:gdLst/>
            <a:ahLst/>
            <a:cxnLst/>
            <a:rect l="l" t="t" r="r" b="b"/>
            <a:pathLst>
              <a:path w="8646441" h="5133824" extrusionOk="0">
                <a:moveTo>
                  <a:pt x="0" y="0"/>
                </a:moveTo>
                <a:lnTo>
                  <a:pt x="8646441" y="0"/>
                </a:lnTo>
                <a:lnTo>
                  <a:pt x="8646441" y="5133824"/>
                </a:lnTo>
                <a:lnTo>
                  <a:pt x="0" y="51338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92" name="Google Shape;392;p36"/>
          <p:cNvSpPr txBox="1"/>
          <p:nvPr/>
        </p:nvSpPr>
        <p:spPr>
          <a:xfrm>
            <a:off x="951943" y="437602"/>
            <a:ext cx="7998109" cy="378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– PITCH (F0) DISTRIBUTION</a:t>
            </a:r>
            <a:endParaRPr sz="700"/>
          </a:p>
        </p:txBody>
      </p:sp>
      <p:sp>
        <p:nvSpPr>
          <p:cNvPr id="393" name="Google Shape;393;p36"/>
          <p:cNvSpPr txBox="1"/>
          <p:nvPr/>
        </p:nvSpPr>
        <p:spPr>
          <a:xfrm>
            <a:off x="4637886" y="1277693"/>
            <a:ext cx="4115138" cy="2429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30200" marR="0" lvl="1" indent="-158750" algn="l" rtl="0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Waveforms and spectrograms show acoustic patterns of each language</a:t>
            </a:r>
            <a:endParaRPr sz="700"/>
          </a:p>
          <a:p>
            <a:pPr marL="330200" marR="0" lvl="1" indent="-158750" algn="l" rtl="0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Dravidian languages show energy concentrated in 1–3 kHz range</a:t>
            </a:r>
            <a:endParaRPr sz="700"/>
          </a:p>
          <a:p>
            <a:pPr marL="330200" marR="0" lvl="1" indent="-158750" algn="l" rtl="0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English shows more high-frequency distribution</a:t>
            </a:r>
            <a:endParaRPr sz="700"/>
          </a:p>
          <a:p>
            <a:pPr marL="330200" marR="0" lvl="1" indent="-158750" algn="l" rtl="0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Each language has distinct spectral signatures</a:t>
            </a:r>
            <a:endParaRPr sz="700"/>
          </a:p>
          <a:p>
            <a:pPr marL="0" marR="0" lvl="0" indent="0" algn="l" rtl="0">
              <a:lnSpc>
                <a:spcPct val="14003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"/>
          <p:cNvSpPr/>
          <p:nvPr/>
        </p:nvSpPr>
        <p:spPr>
          <a:xfrm>
            <a:off x="3878631" y="858719"/>
            <a:ext cx="1787135" cy="1787135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399" name="Google Shape;399;p37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4" name="Google Shape;404;p37"/>
          <p:cNvGrpSpPr/>
          <p:nvPr/>
        </p:nvGrpSpPr>
        <p:grpSpPr>
          <a:xfrm>
            <a:off x="8818909" y="-139614"/>
            <a:ext cx="1665465" cy="5485648"/>
            <a:chOff x="0" y="-38100"/>
            <a:chExt cx="877282" cy="2889560"/>
          </a:xfrm>
        </p:grpSpPr>
        <p:sp>
          <p:nvSpPr>
            <p:cNvPr id="405" name="Google Shape;405;p37"/>
            <p:cNvSpPr/>
            <p:nvPr/>
          </p:nvSpPr>
          <p:spPr>
            <a:xfrm>
              <a:off x="0" y="0"/>
              <a:ext cx="877282" cy="2851460"/>
            </a:xfrm>
            <a:custGeom>
              <a:avLst/>
              <a:gdLst/>
              <a:ahLst/>
              <a:cxnLst/>
              <a:rect l="l" t="t" r="r" b="b"/>
              <a:pathLst>
                <a:path w="877282" h="2851460" extrusionOk="0">
                  <a:moveTo>
                    <a:pt x="0" y="0"/>
                  </a:moveTo>
                  <a:lnTo>
                    <a:pt x="877282" y="0"/>
                  </a:lnTo>
                  <a:lnTo>
                    <a:pt x="877282" y="2851460"/>
                  </a:lnTo>
                  <a:lnTo>
                    <a:pt x="0" y="28514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6" name="Google Shape;406;p37"/>
            <p:cNvSpPr txBox="1"/>
            <p:nvPr/>
          </p:nvSpPr>
          <p:spPr>
            <a:xfrm>
              <a:off x="0" y="-38100"/>
              <a:ext cx="877282" cy="2889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37"/>
          <p:cNvSpPr/>
          <p:nvPr/>
        </p:nvSpPr>
        <p:spPr>
          <a:xfrm rot="-5400000">
            <a:off x="12749" y="3240365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409" name="Google Shape;409;p37"/>
          <p:cNvSpPr/>
          <p:nvPr/>
        </p:nvSpPr>
        <p:spPr>
          <a:xfrm rot="-5400000">
            <a:off x="37074" y="4127550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410" name="Google Shape;410;p37"/>
          <p:cNvSpPr/>
          <p:nvPr/>
        </p:nvSpPr>
        <p:spPr>
          <a:xfrm>
            <a:off x="1270697" y="149738"/>
            <a:ext cx="2731455" cy="708981"/>
          </a:xfrm>
          <a:custGeom>
            <a:avLst/>
            <a:gdLst/>
            <a:ahLst/>
            <a:cxnLst/>
            <a:rect l="l" t="t" r="r" b="b"/>
            <a:pathLst>
              <a:path w="5462909" h="1417962" extrusionOk="0">
                <a:moveTo>
                  <a:pt x="0" y="0"/>
                </a:moveTo>
                <a:lnTo>
                  <a:pt x="5462909" y="0"/>
                </a:lnTo>
                <a:lnTo>
                  <a:pt x="5462909" y="1417963"/>
                </a:lnTo>
                <a:lnTo>
                  <a:pt x="0" y="1417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1" name="Google Shape;411;p37"/>
          <p:cNvSpPr/>
          <p:nvPr/>
        </p:nvSpPr>
        <p:spPr>
          <a:xfrm rot="201610">
            <a:off x="8296473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37"/>
          <p:cNvSpPr/>
          <p:nvPr/>
        </p:nvSpPr>
        <p:spPr>
          <a:xfrm>
            <a:off x="210572" y="2789142"/>
            <a:ext cx="5077953" cy="1777284"/>
          </a:xfrm>
          <a:custGeom>
            <a:avLst/>
            <a:gdLst/>
            <a:ahLst/>
            <a:cxnLst/>
            <a:rect l="l" t="t" r="r" b="b"/>
            <a:pathLst>
              <a:path w="10155906" h="3554567" extrusionOk="0">
                <a:moveTo>
                  <a:pt x="0" y="0"/>
                </a:moveTo>
                <a:lnTo>
                  <a:pt x="10155906" y="0"/>
                </a:lnTo>
                <a:lnTo>
                  <a:pt x="10155906" y="3554567"/>
                </a:lnTo>
                <a:lnTo>
                  <a:pt x="0" y="35545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37"/>
          <p:cNvSpPr/>
          <p:nvPr/>
        </p:nvSpPr>
        <p:spPr>
          <a:xfrm>
            <a:off x="107458" y="974113"/>
            <a:ext cx="5057933" cy="1370842"/>
          </a:xfrm>
          <a:custGeom>
            <a:avLst/>
            <a:gdLst/>
            <a:ahLst/>
            <a:cxnLst/>
            <a:rect l="l" t="t" r="r" b="b"/>
            <a:pathLst>
              <a:path w="10115865" h="2741683" extrusionOk="0">
                <a:moveTo>
                  <a:pt x="0" y="0"/>
                </a:moveTo>
                <a:lnTo>
                  <a:pt x="10115864" y="0"/>
                </a:lnTo>
                <a:lnTo>
                  <a:pt x="10115864" y="2741683"/>
                </a:lnTo>
                <a:lnTo>
                  <a:pt x="0" y="2741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37"/>
          <p:cNvSpPr txBox="1"/>
          <p:nvPr/>
        </p:nvSpPr>
        <p:spPr>
          <a:xfrm>
            <a:off x="107447" y="251833"/>
            <a:ext cx="9026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</a:t>
            </a:r>
            <a:endParaRPr sz="700"/>
          </a:p>
        </p:txBody>
      </p:sp>
      <p:sp>
        <p:nvSpPr>
          <p:cNvPr id="415" name="Google Shape;415;p37"/>
          <p:cNvSpPr txBox="1"/>
          <p:nvPr/>
        </p:nvSpPr>
        <p:spPr>
          <a:xfrm>
            <a:off x="5288523" y="1205384"/>
            <a:ext cx="3212031" cy="1366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3200" marR="0" lvl="1" indent="-101600" algn="l" rtl="0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ZCR(Zero Crossing Rate): Rate of zero crossings (indicates voiced/unvoiced patterns)</a:t>
            </a:r>
            <a:endParaRPr sz="700"/>
          </a:p>
          <a:p>
            <a:pPr marL="203200" marR="0" lvl="1" indent="-101600" algn="l" rtl="0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RMS Energy: Represents signal loudness</a:t>
            </a:r>
            <a:endParaRPr sz="700"/>
          </a:p>
          <a:p>
            <a:pPr marL="203200" marR="0" lvl="1" indent="-101600" algn="l" rtl="0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features show measurable differnces  between languages</a:t>
            </a:r>
            <a:endParaRPr sz="700"/>
          </a:p>
          <a:p>
            <a:pPr marL="203200" marR="0" lvl="1" indent="-101600" algn="l" rtl="0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Useful for capturing speech and phonetic differences</a:t>
            </a:r>
            <a:endParaRPr sz="700"/>
          </a:p>
          <a:p>
            <a:pPr marL="0" marR="0" lvl="0" indent="0" algn="l" rtl="0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5288523" y="3414074"/>
            <a:ext cx="3110160" cy="1161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3200" marR="0" lvl="1" indent="-95250" algn="l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Char char="•"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Spectral centroid reflects frequency characteristics (consonant vs vowel energy)</a:t>
            </a:r>
            <a:endParaRPr sz="700"/>
          </a:p>
          <a:p>
            <a:pPr marL="203200" marR="0" lvl="1" indent="-95250" algn="l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Char char="•"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Speaking rate reflects speech speed and timing</a:t>
            </a:r>
            <a:endParaRPr sz="700"/>
          </a:p>
          <a:p>
            <a:pPr marL="203200" marR="0" lvl="1" indent="-95250" algn="l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Char char="•"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Both vary across languages</a:t>
            </a:r>
            <a:endParaRPr sz="700"/>
          </a:p>
          <a:p>
            <a:pPr marL="203200" marR="0" lvl="1" indent="-95250" algn="l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Char char="•"/>
            </a:pPr>
            <a:r>
              <a:rPr lang="en-GB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Reflect differences in consonant–vowel patterns and syllable timing</a:t>
            </a:r>
            <a:endParaRPr sz="700"/>
          </a:p>
          <a:p>
            <a:pPr marL="0" marR="0" lvl="0" indent="0" algn="l" rtl="0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7"/>
          <p:cNvSpPr txBox="1"/>
          <p:nvPr/>
        </p:nvSpPr>
        <p:spPr>
          <a:xfrm>
            <a:off x="5288523" y="791077"/>
            <a:ext cx="7998109" cy="314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ZCR &amp; RMS ENERGY</a:t>
            </a:r>
            <a:endParaRPr sz="700"/>
          </a:p>
        </p:txBody>
      </p:sp>
      <p:sp>
        <p:nvSpPr>
          <p:cNvPr id="418" name="Google Shape;418;p37"/>
          <p:cNvSpPr txBox="1"/>
          <p:nvPr/>
        </p:nvSpPr>
        <p:spPr>
          <a:xfrm>
            <a:off x="5393818" y="2711548"/>
            <a:ext cx="3632075" cy="57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SPECTRAL CENTROID &amp; SPEAKING RATE</a:t>
            </a:r>
            <a:endParaRPr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"/>
          <p:cNvSpPr/>
          <p:nvPr/>
        </p:nvSpPr>
        <p:spPr>
          <a:xfrm>
            <a:off x="3878631" y="858719"/>
            <a:ext cx="1787135" cy="1787135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424" name="Google Shape;424;p38"/>
          <p:cNvSpPr/>
          <p:nvPr/>
        </p:nvSpPr>
        <p:spPr>
          <a:xfrm>
            <a:off x="-820865" y="2344953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29" name="Google Shape;429;p38"/>
          <p:cNvGrpSpPr/>
          <p:nvPr/>
        </p:nvGrpSpPr>
        <p:grpSpPr>
          <a:xfrm>
            <a:off x="8818909" y="-139614"/>
            <a:ext cx="1665465" cy="5485648"/>
            <a:chOff x="0" y="-38100"/>
            <a:chExt cx="877282" cy="2889560"/>
          </a:xfrm>
        </p:grpSpPr>
        <p:sp>
          <p:nvSpPr>
            <p:cNvPr id="430" name="Google Shape;430;p38"/>
            <p:cNvSpPr/>
            <p:nvPr/>
          </p:nvSpPr>
          <p:spPr>
            <a:xfrm>
              <a:off x="0" y="0"/>
              <a:ext cx="877282" cy="2851460"/>
            </a:xfrm>
            <a:custGeom>
              <a:avLst/>
              <a:gdLst/>
              <a:ahLst/>
              <a:cxnLst/>
              <a:rect l="l" t="t" r="r" b="b"/>
              <a:pathLst>
                <a:path w="877282" h="2851460" extrusionOk="0">
                  <a:moveTo>
                    <a:pt x="0" y="0"/>
                  </a:moveTo>
                  <a:lnTo>
                    <a:pt x="877282" y="0"/>
                  </a:lnTo>
                  <a:lnTo>
                    <a:pt x="877282" y="2851460"/>
                  </a:lnTo>
                  <a:lnTo>
                    <a:pt x="0" y="28514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1" name="Google Shape;431;p38"/>
            <p:cNvSpPr txBox="1"/>
            <p:nvPr/>
          </p:nvSpPr>
          <p:spPr>
            <a:xfrm>
              <a:off x="0" y="-38100"/>
              <a:ext cx="877282" cy="28895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38"/>
          <p:cNvSpPr/>
          <p:nvPr/>
        </p:nvSpPr>
        <p:spPr>
          <a:xfrm rot="-5400000">
            <a:off x="-197525" y="250823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434" name="Google Shape;434;p38"/>
          <p:cNvSpPr/>
          <p:nvPr/>
        </p:nvSpPr>
        <p:spPr>
          <a:xfrm rot="-5400000">
            <a:off x="-170269" y="1548341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435" name="Google Shape;435;p38"/>
          <p:cNvSpPr/>
          <p:nvPr/>
        </p:nvSpPr>
        <p:spPr>
          <a:xfrm>
            <a:off x="2718082" y="53237"/>
            <a:ext cx="2457435" cy="1210845"/>
          </a:xfrm>
          <a:custGeom>
            <a:avLst/>
            <a:gdLst/>
            <a:ahLst/>
            <a:cxnLst/>
            <a:rect l="l" t="t" r="r" b="b"/>
            <a:pathLst>
              <a:path w="4914870" h="2421690" extrusionOk="0">
                <a:moveTo>
                  <a:pt x="0" y="0"/>
                </a:moveTo>
                <a:lnTo>
                  <a:pt x="4914870" y="0"/>
                </a:lnTo>
                <a:lnTo>
                  <a:pt x="4914870" y="2421690"/>
                </a:lnTo>
                <a:lnTo>
                  <a:pt x="0" y="2421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6" name="Google Shape;436;p38"/>
          <p:cNvSpPr/>
          <p:nvPr/>
        </p:nvSpPr>
        <p:spPr>
          <a:xfrm rot="201610">
            <a:off x="8334860" y="473363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7" name="Google Shape;437;p38"/>
          <p:cNvSpPr/>
          <p:nvPr/>
        </p:nvSpPr>
        <p:spPr>
          <a:xfrm>
            <a:off x="407531" y="1305663"/>
            <a:ext cx="4157757" cy="3310614"/>
          </a:xfrm>
          <a:custGeom>
            <a:avLst/>
            <a:gdLst/>
            <a:ahLst/>
            <a:cxnLst/>
            <a:rect l="l" t="t" r="r" b="b"/>
            <a:pathLst>
              <a:path w="8315514" h="6621228" extrusionOk="0">
                <a:moveTo>
                  <a:pt x="0" y="0"/>
                </a:moveTo>
                <a:lnTo>
                  <a:pt x="8315515" y="0"/>
                </a:lnTo>
                <a:lnTo>
                  <a:pt x="8315515" y="6621229"/>
                </a:lnTo>
                <a:lnTo>
                  <a:pt x="0" y="66212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38" name="Google Shape;438;p38"/>
          <p:cNvSpPr txBox="1"/>
          <p:nvPr/>
        </p:nvSpPr>
        <p:spPr>
          <a:xfrm>
            <a:off x="407532" y="421553"/>
            <a:ext cx="7998109" cy="437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: PCA</a:t>
            </a:r>
            <a:endParaRPr sz="700"/>
          </a:p>
        </p:txBody>
      </p:sp>
      <p:sp>
        <p:nvSpPr>
          <p:cNvPr id="439" name="Google Shape;439;p38"/>
          <p:cNvSpPr txBox="1"/>
          <p:nvPr/>
        </p:nvSpPr>
        <p:spPr>
          <a:xfrm>
            <a:off x="4772199" y="1258838"/>
            <a:ext cx="3221311" cy="352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30200" marR="0" lvl="1" indent="-15875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PCA reduces high-dimensional features into 2D for visualization</a:t>
            </a:r>
            <a:endParaRPr sz="700"/>
          </a:p>
          <a:p>
            <a:pPr marL="330200" marR="0" lvl="1" indent="-15875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space shows reasonable separability between languages</a:t>
            </a:r>
            <a:endParaRPr sz="700"/>
          </a:p>
          <a:p>
            <a:pPr marL="330200" marR="0" lvl="1" indent="-15875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Dravidian languages show overlapping but distinguishable clusters</a:t>
            </a:r>
            <a:endParaRPr sz="700"/>
          </a:p>
          <a:p>
            <a:pPr marL="330200" marR="0" lvl="1" indent="-15875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GB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Indicates extracted features are effective for classification</a:t>
            </a:r>
            <a:endParaRPr sz="700"/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34;p38">
            <a:extLst>
              <a:ext uri="{FF2B5EF4-FFF2-40B4-BE49-F238E27FC236}">
                <a16:creationId xmlns:a16="http://schemas.microsoft.com/office/drawing/2014/main" id="{BF4D40F6-ABB6-DE49-B550-AF626F91151E}"/>
              </a:ext>
            </a:extLst>
          </p:cNvPr>
          <p:cNvSpPr/>
          <p:nvPr/>
        </p:nvSpPr>
        <p:spPr>
          <a:xfrm rot="16200000">
            <a:off x="-170995" y="3442465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3" name="Google Shape;434;p38">
            <a:extLst>
              <a:ext uri="{FF2B5EF4-FFF2-40B4-BE49-F238E27FC236}">
                <a16:creationId xmlns:a16="http://schemas.microsoft.com/office/drawing/2014/main" id="{9B98D229-8361-5D07-839B-0DCEFFEA3864}"/>
              </a:ext>
            </a:extLst>
          </p:cNvPr>
          <p:cNvSpPr/>
          <p:nvPr/>
        </p:nvSpPr>
        <p:spPr>
          <a:xfrm rot="16200000">
            <a:off x="-51387" y="4239800"/>
            <a:ext cx="490668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9" descr="a person typing on a laptop computer"/>
          <p:cNvSpPr/>
          <p:nvPr/>
        </p:nvSpPr>
        <p:spPr>
          <a:xfrm>
            <a:off x="0" y="0"/>
            <a:ext cx="3465912" cy="5143500"/>
          </a:xfrm>
          <a:custGeom>
            <a:avLst/>
            <a:gdLst/>
            <a:ahLst/>
            <a:cxnLst/>
            <a:rect l="l" t="t" r="r" b="b"/>
            <a:pathLst>
              <a:path w="6931823" h="10287000" extrusionOk="0">
                <a:moveTo>
                  <a:pt x="0" y="0"/>
                </a:moveTo>
                <a:lnTo>
                  <a:pt x="6931823" y="0"/>
                </a:lnTo>
                <a:lnTo>
                  <a:pt x="69318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38" b="-538"/>
            </a:stretch>
          </a:blipFill>
          <a:ln>
            <a:noFill/>
          </a:ln>
        </p:spPr>
      </p:sp>
      <p:sp>
        <p:nvSpPr>
          <p:cNvPr id="445" name="Google Shape;445;p39"/>
          <p:cNvSpPr/>
          <p:nvPr/>
        </p:nvSpPr>
        <p:spPr>
          <a:xfrm>
            <a:off x="-101671" y="0"/>
            <a:ext cx="3567582" cy="5454515"/>
          </a:xfrm>
          <a:custGeom>
            <a:avLst/>
            <a:gdLst/>
            <a:ahLst/>
            <a:cxnLst/>
            <a:rect l="l" t="t" r="r" b="b"/>
            <a:pathLst>
              <a:path w="7135164" h="10909029" extrusionOk="0">
                <a:moveTo>
                  <a:pt x="0" y="0"/>
                </a:moveTo>
                <a:lnTo>
                  <a:pt x="7135164" y="0"/>
                </a:lnTo>
                <a:lnTo>
                  <a:pt x="7135164" y="10909029"/>
                </a:lnTo>
                <a:lnTo>
                  <a:pt x="0" y="10909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624" r="-59508"/>
            </a:stretch>
          </a:blipFill>
          <a:ln>
            <a:noFill/>
          </a:ln>
        </p:spPr>
      </p:sp>
      <p:sp>
        <p:nvSpPr>
          <p:cNvPr id="446" name="Google Shape;446;p39"/>
          <p:cNvSpPr txBox="1"/>
          <p:nvPr/>
        </p:nvSpPr>
        <p:spPr>
          <a:xfrm>
            <a:off x="3610482" y="145003"/>
            <a:ext cx="54186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Engineering &amp; Selection</a:t>
            </a:r>
            <a:endParaRPr sz="700"/>
          </a:p>
        </p:txBody>
      </p:sp>
      <p:sp>
        <p:nvSpPr>
          <p:cNvPr id="447" name="Google Shape;447;p39"/>
          <p:cNvSpPr txBox="1"/>
          <p:nvPr/>
        </p:nvSpPr>
        <p:spPr>
          <a:xfrm>
            <a:off x="3610483" y="3836988"/>
            <a:ext cx="5184011" cy="1306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67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Extracted MFCC, prosodic, spectral, and ZCR features</a:t>
            </a:r>
            <a:endParaRPr sz="700"/>
          </a:p>
          <a:p>
            <a:pPr marL="2667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90 features</a:t>
            </a:r>
            <a:endParaRPr sz="700"/>
          </a:p>
          <a:p>
            <a:pPr marL="2667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 standardized using StandardScaler (zero mean, unit variance)</a:t>
            </a:r>
            <a:endParaRPr sz="700"/>
          </a:p>
          <a:p>
            <a:pPr marL="2667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Selected top 70 features using SelectKBest for model training</a:t>
            </a:r>
            <a:endParaRPr sz="700"/>
          </a:p>
          <a:p>
            <a:pPr marL="0" marR="0" lvl="0" indent="0" algn="l" rtl="0">
              <a:lnSpc>
                <a:spcPct val="14005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9"/>
          <p:cNvSpPr/>
          <p:nvPr/>
        </p:nvSpPr>
        <p:spPr>
          <a:xfrm rot="201610">
            <a:off x="8638630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449" name="Google Shape;449;p39" title="ChatGPT Image Apr 18, 2026, 11_50_53 AM.png"/>
          <p:cNvPicPr preferRelativeResize="0"/>
          <p:nvPr/>
        </p:nvPicPr>
        <p:blipFill rotWithShape="1">
          <a:blip r:embed="rId6">
            <a:alphaModFix/>
          </a:blip>
          <a:srcRect b="16590"/>
          <a:stretch/>
        </p:blipFill>
        <p:spPr>
          <a:xfrm>
            <a:off x="3530963" y="1029863"/>
            <a:ext cx="5098698" cy="231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0" descr="a person typing on a laptop computer"/>
          <p:cNvSpPr/>
          <p:nvPr/>
        </p:nvSpPr>
        <p:spPr>
          <a:xfrm>
            <a:off x="0" y="0"/>
            <a:ext cx="3465912" cy="5143500"/>
          </a:xfrm>
          <a:custGeom>
            <a:avLst/>
            <a:gdLst/>
            <a:ahLst/>
            <a:cxnLst/>
            <a:rect l="l" t="t" r="r" b="b"/>
            <a:pathLst>
              <a:path w="6931823" h="10287000" extrusionOk="0">
                <a:moveTo>
                  <a:pt x="0" y="0"/>
                </a:moveTo>
                <a:lnTo>
                  <a:pt x="6931823" y="0"/>
                </a:lnTo>
                <a:lnTo>
                  <a:pt x="69318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538" b="-538"/>
            </a:stretch>
          </a:blipFill>
          <a:ln>
            <a:noFill/>
          </a:ln>
        </p:spPr>
      </p:sp>
      <p:sp>
        <p:nvSpPr>
          <p:cNvPr id="455" name="Google Shape;455;p40"/>
          <p:cNvSpPr/>
          <p:nvPr/>
        </p:nvSpPr>
        <p:spPr>
          <a:xfrm>
            <a:off x="-101671" y="0"/>
            <a:ext cx="3567582" cy="5454515"/>
          </a:xfrm>
          <a:custGeom>
            <a:avLst/>
            <a:gdLst/>
            <a:ahLst/>
            <a:cxnLst/>
            <a:rect l="l" t="t" r="r" b="b"/>
            <a:pathLst>
              <a:path w="7135164" h="10909029" extrusionOk="0">
                <a:moveTo>
                  <a:pt x="0" y="0"/>
                </a:moveTo>
                <a:lnTo>
                  <a:pt x="7135164" y="0"/>
                </a:lnTo>
                <a:lnTo>
                  <a:pt x="7135164" y="10909029"/>
                </a:lnTo>
                <a:lnTo>
                  <a:pt x="0" y="10909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624" r="-59508"/>
            </a:stretch>
          </a:blipFill>
          <a:ln>
            <a:noFill/>
          </a:ln>
        </p:spPr>
      </p:sp>
      <p:sp>
        <p:nvSpPr>
          <p:cNvPr id="456" name="Google Shape;456;p40"/>
          <p:cNvSpPr/>
          <p:nvPr/>
        </p:nvSpPr>
        <p:spPr>
          <a:xfrm rot="201610">
            <a:off x="8726858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7" name="Google Shape;457;p40"/>
          <p:cNvSpPr/>
          <p:nvPr/>
        </p:nvSpPr>
        <p:spPr>
          <a:xfrm>
            <a:off x="3646233" y="1302925"/>
            <a:ext cx="5347116" cy="2112111"/>
          </a:xfrm>
          <a:custGeom>
            <a:avLst/>
            <a:gdLst/>
            <a:ahLst/>
            <a:cxnLst/>
            <a:rect l="l" t="t" r="r" b="b"/>
            <a:pathLst>
              <a:path w="10694233" h="4224222" extrusionOk="0">
                <a:moveTo>
                  <a:pt x="0" y="0"/>
                </a:moveTo>
                <a:lnTo>
                  <a:pt x="10694233" y="0"/>
                </a:lnTo>
                <a:lnTo>
                  <a:pt x="10694233" y="4224222"/>
                </a:lnTo>
                <a:lnTo>
                  <a:pt x="0" y="4224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8" name="Google Shape;458;p40"/>
          <p:cNvSpPr txBox="1"/>
          <p:nvPr/>
        </p:nvSpPr>
        <p:spPr>
          <a:xfrm>
            <a:off x="3610482" y="145003"/>
            <a:ext cx="541862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Engineering &amp; Selection</a:t>
            </a:r>
            <a:endParaRPr sz="700"/>
          </a:p>
        </p:txBody>
      </p:sp>
      <p:sp>
        <p:nvSpPr>
          <p:cNvPr id="459" name="Google Shape;459;p40"/>
          <p:cNvSpPr txBox="1"/>
          <p:nvPr/>
        </p:nvSpPr>
        <p:spPr>
          <a:xfrm>
            <a:off x="3610482" y="924725"/>
            <a:ext cx="4346689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SELECTION RESULTS</a:t>
            </a:r>
            <a:endParaRPr sz="700"/>
          </a:p>
        </p:txBody>
      </p:sp>
      <p:sp>
        <p:nvSpPr>
          <p:cNvPr id="460" name="Google Shape;460;p40"/>
          <p:cNvSpPr txBox="1"/>
          <p:nvPr/>
        </p:nvSpPr>
        <p:spPr>
          <a:xfrm>
            <a:off x="3610482" y="3583699"/>
            <a:ext cx="5533518" cy="1163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2100" marR="0" lvl="1" indent="-14605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importance identifies the most discriminative power</a:t>
            </a:r>
            <a:endParaRPr sz="700"/>
          </a:p>
          <a:p>
            <a:pPr marL="292100" marR="0" lvl="1" indent="-14605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features (especially Δ and ΔΔ) are most informative</a:t>
            </a:r>
            <a:endParaRPr sz="700"/>
          </a:p>
          <a:p>
            <a:pPr marL="292100" marR="0" lvl="1" indent="-14605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Prosodic and spectral features also contribute</a:t>
            </a:r>
            <a:endParaRPr sz="700"/>
          </a:p>
          <a:p>
            <a:pPr marL="292100" marR="0" lvl="1" indent="-14605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 70 features selected from 90 using mutual information</a:t>
            </a:r>
            <a:endParaRPr sz="700"/>
          </a:p>
          <a:p>
            <a:pPr marL="0" marR="0" lvl="0" indent="0" algn="l" rtl="0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5" name="Google Shape;465;p41"/>
          <p:cNvCxnSpPr/>
          <p:nvPr/>
        </p:nvCxnSpPr>
        <p:spPr>
          <a:xfrm rot="5400000">
            <a:off x="411505" y="2569369"/>
            <a:ext cx="5143500" cy="0"/>
          </a:xfrm>
          <a:prstGeom prst="straightConnector1">
            <a:avLst/>
          </a:prstGeom>
          <a:noFill/>
          <a:ln w="9525" cap="rnd" cmpd="sng">
            <a:solidFill>
              <a:srgbClr val="959D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6" name="Google Shape;466;p41"/>
          <p:cNvCxnSpPr/>
          <p:nvPr/>
        </p:nvCxnSpPr>
        <p:spPr>
          <a:xfrm rot="5400000">
            <a:off x="2464293" y="2569369"/>
            <a:ext cx="5143500" cy="0"/>
          </a:xfrm>
          <a:prstGeom prst="straightConnector1">
            <a:avLst/>
          </a:prstGeom>
          <a:noFill/>
          <a:ln w="9525" cap="rnd" cmpd="sng">
            <a:solidFill>
              <a:srgbClr val="959DB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7" name="Google Shape;467;p41"/>
          <p:cNvCxnSpPr/>
          <p:nvPr/>
        </p:nvCxnSpPr>
        <p:spPr>
          <a:xfrm rot="5400000">
            <a:off x="4517081" y="2569369"/>
            <a:ext cx="5143500" cy="0"/>
          </a:xfrm>
          <a:prstGeom prst="straightConnector1">
            <a:avLst/>
          </a:prstGeom>
          <a:noFill/>
          <a:ln w="9525" cap="rnd" cmpd="sng">
            <a:solidFill>
              <a:srgbClr val="959DB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8" name="Google Shape;468;p41"/>
          <p:cNvSpPr/>
          <p:nvPr/>
        </p:nvSpPr>
        <p:spPr>
          <a:xfrm>
            <a:off x="2998849" y="0"/>
            <a:ext cx="2021600" cy="2571774"/>
          </a:xfrm>
          <a:custGeom>
            <a:avLst/>
            <a:gdLst/>
            <a:ahLst/>
            <a:cxnLst/>
            <a:rect l="l" t="t" r="r" b="b"/>
            <a:pathLst>
              <a:path w="4043199" h="5143547" extrusionOk="0">
                <a:moveTo>
                  <a:pt x="0" y="0"/>
                </a:moveTo>
                <a:lnTo>
                  <a:pt x="4043199" y="0"/>
                </a:lnTo>
                <a:lnTo>
                  <a:pt x="4043199" y="5143547"/>
                </a:lnTo>
                <a:lnTo>
                  <a:pt x="0" y="5143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58" t="-5208" r="-2642" b="-16905"/>
            </a:stretch>
          </a:blipFill>
          <a:ln>
            <a:noFill/>
          </a:ln>
        </p:spPr>
      </p:sp>
      <p:sp>
        <p:nvSpPr>
          <p:cNvPr id="469" name="Google Shape;469;p41"/>
          <p:cNvSpPr/>
          <p:nvPr/>
        </p:nvSpPr>
        <p:spPr>
          <a:xfrm>
            <a:off x="5052712" y="0"/>
            <a:ext cx="2112815" cy="2571774"/>
          </a:xfrm>
          <a:custGeom>
            <a:avLst/>
            <a:gdLst/>
            <a:ahLst/>
            <a:cxnLst/>
            <a:rect l="l" t="t" r="r" b="b"/>
            <a:pathLst>
              <a:path w="4225631" h="5143547" extrusionOk="0">
                <a:moveTo>
                  <a:pt x="0" y="0"/>
                </a:moveTo>
                <a:lnTo>
                  <a:pt x="4225631" y="0"/>
                </a:lnTo>
                <a:lnTo>
                  <a:pt x="4225631" y="5143547"/>
                </a:lnTo>
                <a:lnTo>
                  <a:pt x="0" y="51435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4853" t="-7448" r="-3733" b="-26364"/>
            </a:stretch>
          </a:blipFill>
          <a:ln>
            <a:noFill/>
          </a:ln>
        </p:spPr>
      </p:sp>
      <p:sp>
        <p:nvSpPr>
          <p:cNvPr id="470" name="Google Shape;470;p41"/>
          <p:cNvSpPr/>
          <p:nvPr/>
        </p:nvSpPr>
        <p:spPr>
          <a:xfrm>
            <a:off x="7179815" y="-16876"/>
            <a:ext cx="2081316" cy="2588627"/>
          </a:xfrm>
          <a:custGeom>
            <a:avLst/>
            <a:gdLst/>
            <a:ahLst/>
            <a:cxnLst/>
            <a:rect l="l" t="t" r="r" b="b"/>
            <a:pathLst>
              <a:path w="4162631" h="5177253" extrusionOk="0">
                <a:moveTo>
                  <a:pt x="0" y="0"/>
                </a:moveTo>
                <a:lnTo>
                  <a:pt x="4162631" y="0"/>
                </a:lnTo>
                <a:lnTo>
                  <a:pt x="4162631" y="5177253"/>
                </a:lnTo>
                <a:lnTo>
                  <a:pt x="0" y="5177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4409" b="-16193"/>
            </a:stretch>
          </a:blipFill>
          <a:ln>
            <a:noFill/>
          </a:ln>
        </p:spPr>
      </p:sp>
      <p:sp>
        <p:nvSpPr>
          <p:cNvPr id="471" name="Google Shape;471;p41"/>
          <p:cNvSpPr/>
          <p:nvPr/>
        </p:nvSpPr>
        <p:spPr>
          <a:xfrm>
            <a:off x="1366225" y="3315768"/>
            <a:ext cx="1547973" cy="1664321"/>
          </a:xfrm>
          <a:custGeom>
            <a:avLst/>
            <a:gdLst/>
            <a:ahLst/>
            <a:cxnLst/>
            <a:rect l="l" t="t" r="r" b="b"/>
            <a:pathLst>
              <a:path w="3095947" h="3328641" extrusionOk="0">
                <a:moveTo>
                  <a:pt x="0" y="0"/>
                </a:moveTo>
                <a:lnTo>
                  <a:pt x="3095946" y="0"/>
                </a:lnTo>
                <a:lnTo>
                  <a:pt x="3095946" y="3328641"/>
                </a:lnTo>
                <a:lnTo>
                  <a:pt x="0" y="3328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2" name="Google Shape;472;p41"/>
          <p:cNvSpPr txBox="1"/>
          <p:nvPr/>
        </p:nvSpPr>
        <p:spPr>
          <a:xfrm>
            <a:off x="99197" y="290493"/>
            <a:ext cx="3225353" cy="1219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b="1" i="0" u="none" strike="noStrike" cap="none">
                <a:solidFill>
                  <a:srgbClr val="F4F6FC"/>
                </a:solidFill>
                <a:latin typeface="Noto Sans"/>
                <a:ea typeface="Noto Sans"/>
                <a:cs typeface="Noto Sans"/>
                <a:sym typeface="Noto Sans"/>
              </a:rPr>
              <a:t>Model Building &amp; Training</a:t>
            </a:r>
            <a:endParaRPr sz="700"/>
          </a:p>
          <a:p>
            <a:pPr marL="0" marR="0" lvl="0" indent="0" algn="l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 i="0" u="none" strike="noStrike" cap="none">
              <a:solidFill>
                <a:srgbClr val="F4F6F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3" name="Google Shape;473;p41"/>
          <p:cNvSpPr txBox="1"/>
          <p:nvPr/>
        </p:nvSpPr>
        <p:spPr>
          <a:xfrm>
            <a:off x="3070685" y="2659212"/>
            <a:ext cx="1877928" cy="24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SVM (RBF Kernel)</a:t>
            </a:r>
            <a:endParaRPr sz="700"/>
          </a:p>
        </p:txBody>
      </p:sp>
      <p:sp>
        <p:nvSpPr>
          <p:cNvPr id="474" name="Google Shape;474;p41"/>
          <p:cNvSpPr txBox="1"/>
          <p:nvPr/>
        </p:nvSpPr>
        <p:spPr>
          <a:xfrm>
            <a:off x="3050959" y="3063320"/>
            <a:ext cx="1897654" cy="160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2100" marR="0" lvl="1" indent="-14605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Effective in high-dimensional feature spaces</a:t>
            </a:r>
            <a:endParaRPr sz="700"/>
          </a:p>
          <a:p>
            <a:pPr marL="292100" marR="0" lvl="1" indent="-14605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Uses class_weight = 'balanced'</a:t>
            </a:r>
            <a:endParaRPr sz="700"/>
          </a:p>
          <a:p>
            <a:pPr marL="0" marR="0" lvl="0" indent="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5" name="Google Shape;475;p41"/>
          <p:cNvSpPr txBox="1"/>
          <p:nvPr/>
        </p:nvSpPr>
        <p:spPr>
          <a:xfrm>
            <a:off x="7229324" y="2657942"/>
            <a:ext cx="1727271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Logistic Regression</a:t>
            </a:r>
            <a:endParaRPr sz="700"/>
          </a:p>
        </p:txBody>
      </p:sp>
      <p:sp>
        <p:nvSpPr>
          <p:cNvPr id="476" name="Google Shape;476;p41"/>
          <p:cNvSpPr txBox="1"/>
          <p:nvPr/>
        </p:nvSpPr>
        <p:spPr>
          <a:xfrm>
            <a:off x="7157887" y="3272906"/>
            <a:ext cx="1760608" cy="1196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Multi-class classifier (lbfgs solver)</a:t>
            </a:r>
            <a:endParaRPr sz="700"/>
          </a:p>
          <a:p>
            <a:pPr marL="254000" marR="0" lvl="1" indent="-127000" algn="l" rtl="0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Serves as a baseline model</a:t>
            </a:r>
            <a:endParaRPr sz="700"/>
          </a:p>
          <a:p>
            <a:pPr marL="0" marR="0" lvl="0" indent="0" algn="l" rtl="0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7" name="Google Shape;477;p41"/>
          <p:cNvSpPr txBox="1"/>
          <p:nvPr/>
        </p:nvSpPr>
        <p:spPr>
          <a:xfrm>
            <a:off x="5261156" y="2657942"/>
            <a:ext cx="1602562" cy="25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Random Forest</a:t>
            </a:r>
            <a:endParaRPr sz="700"/>
          </a:p>
        </p:txBody>
      </p:sp>
      <p:sp>
        <p:nvSpPr>
          <p:cNvPr id="478" name="Google Shape;478;p41"/>
          <p:cNvSpPr txBox="1"/>
          <p:nvPr/>
        </p:nvSpPr>
        <p:spPr>
          <a:xfrm>
            <a:off x="5105099" y="3272906"/>
            <a:ext cx="1776223" cy="1195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66700" marR="0" lvl="1" indent="-139700" algn="l" rtl="0">
              <a:lnSpc>
                <a:spcPct val="16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Ensemble of 200 decision trees</a:t>
            </a:r>
            <a:endParaRPr sz="700"/>
          </a:p>
          <a:p>
            <a:pPr marL="266700" marR="0" lvl="1" indent="-139700" algn="l" rtl="0">
              <a:lnSpc>
                <a:spcPct val="16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Robust and handles non-linearity</a:t>
            </a:r>
            <a:endParaRPr sz="700"/>
          </a:p>
          <a:p>
            <a:pPr marL="0" marR="0" lvl="0" indent="0" algn="l" rtl="0">
              <a:lnSpc>
                <a:spcPct val="16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9" name="Google Shape;479;p41"/>
          <p:cNvSpPr txBox="1"/>
          <p:nvPr/>
        </p:nvSpPr>
        <p:spPr>
          <a:xfrm>
            <a:off x="0" y="1569852"/>
            <a:ext cx="2419606" cy="214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372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2100" marR="0" lvl="1" indent="-14605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Stratified 5-fold cross-validation</a:t>
            </a:r>
            <a:endParaRPr sz="700"/>
          </a:p>
          <a:p>
            <a:pPr marL="292100" marR="0" lvl="1" indent="-14605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Trained on 70 selected features</a:t>
            </a:r>
            <a:endParaRPr sz="700"/>
          </a:p>
          <a:p>
            <a:pPr marL="292100" marR="0" lvl="1" indent="-14605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Features are standardized before training</a:t>
            </a:r>
            <a:endParaRPr sz="700"/>
          </a:p>
          <a:p>
            <a:pPr marL="0" marR="0" lvl="0" indent="0" algn="l" rtl="0">
              <a:lnSpc>
                <a:spcPct val="1600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80" name="Google Shape;480;p41"/>
          <p:cNvSpPr txBox="1"/>
          <p:nvPr/>
        </p:nvSpPr>
        <p:spPr>
          <a:xfrm>
            <a:off x="99197" y="1500639"/>
            <a:ext cx="1877928" cy="242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Training setup: </a:t>
            </a:r>
            <a:endParaRPr sz="700"/>
          </a:p>
        </p:txBody>
      </p:sp>
      <p:sp>
        <p:nvSpPr>
          <p:cNvPr id="481" name="Google Shape;481;p41"/>
          <p:cNvSpPr/>
          <p:nvPr/>
        </p:nvSpPr>
        <p:spPr>
          <a:xfrm rot="201610">
            <a:off x="8714414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2"/>
          <p:cNvSpPr/>
          <p:nvPr/>
        </p:nvSpPr>
        <p:spPr>
          <a:xfrm>
            <a:off x="7225499" y="1384915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487" name="Google Shape;487;p42"/>
          <p:cNvSpPr/>
          <p:nvPr/>
        </p:nvSpPr>
        <p:spPr>
          <a:xfrm>
            <a:off x="-187764" y="-599967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1"/>
                </a:lnTo>
                <a:lnTo>
                  <a:pt x="0" y="5066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488" name="Google Shape;488;p42"/>
          <p:cNvSpPr/>
          <p:nvPr/>
        </p:nvSpPr>
        <p:spPr>
          <a:xfrm>
            <a:off x="255307" y="704809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489" name="Google Shape;489;p42"/>
          <p:cNvSpPr/>
          <p:nvPr/>
        </p:nvSpPr>
        <p:spPr>
          <a:xfrm rot="-5400000">
            <a:off x="8407077" y="1000816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grpSp>
        <p:nvGrpSpPr>
          <p:cNvPr id="495" name="Google Shape;495;p42"/>
          <p:cNvGrpSpPr/>
          <p:nvPr/>
        </p:nvGrpSpPr>
        <p:grpSpPr>
          <a:xfrm rot="5400000">
            <a:off x="4289342" y="-3966729"/>
            <a:ext cx="499161" cy="8661536"/>
            <a:chOff x="0" y="-38100"/>
            <a:chExt cx="262932" cy="2782875"/>
          </a:xfrm>
        </p:grpSpPr>
        <p:sp>
          <p:nvSpPr>
            <p:cNvPr id="496" name="Google Shape;496;p42"/>
            <p:cNvSpPr/>
            <p:nvPr/>
          </p:nvSpPr>
          <p:spPr>
            <a:xfrm>
              <a:off x="0" y="0"/>
              <a:ext cx="262932" cy="2744775"/>
            </a:xfrm>
            <a:custGeom>
              <a:avLst/>
              <a:gdLst/>
              <a:ahLst/>
              <a:cxnLst/>
              <a:rect l="l" t="t" r="r" b="b"/>
              <a:pathLst>
                <a:path w="262932" h="2744775" extrusionOk="0">
                  <a:moveTo>
                    <a:pt x="0" y="0"/>
                  </a:moveTo>
                  <a:lnTo>
                    <a:pt x="262932" y="0"/>
                  </a:lnTo>
                  <a:lnTo>
                    <a:pt x="262932" y="2744775"/>
                  </a:lnTo>
                  <a:lnTo>
                    <a:pt x="0" y="27447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7" name="Google Shape;497;p42"/>
            <p:cNvSpPr txBox="1"/>
            <p:nvPr/>
          </p:nvSpPr>
          <p:spPr>
            <a:xfrm>
              <a:off x="0" y="-38100"/>
              <a:ext cx="262932" cy="2782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9" name="Google Shape;499;p42"/>
          <p:cNvSpPr txBox="1"/>
          <p:nvPr/>
        </p:nvSpPr>
        <p:spPr>
          <a:xfrm>
            <a:off x="33929" y="967095"/>
            <a:ext cx="2311654" cy="392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SVM (RBF) achieves the best performance</a:t>
            </a:r>
            <a:endParaRPr dirty="0"/>
          </a:p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Macro F1  of 0.93</a:t>
            </a:r>
            <a:endParaRPr dirty="0"/>
          </a:p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Accuracy  of 92.1%</a:t>
            </a:r>
            <a:endParaRPr dirty="0"/>
          </a:p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Random Forest performs slightly lower but remains strong</a:t>
            </a:r>
            <a:endParaRPr dirty="0"/>
          </a:p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Logistic Regression provides a baseline performance (~86%)</a:t>
            </a:r>
            <a:endParaRPr dirty="0"/>
          </a:p>
          <a:p>
            <a:pPr marL="241300" marR="0" lvl="1" indent="-12065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Overall, non-linear models outperform linear models</a:t>
            </a:r>
            <a:endParaRPr dirty="0"/>
          </a:p>
          <a:p>
            <a:pPr marL="0" marR="0" lvl="0" indent="0" algn="l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2"/>
          <p:cNvSpPr/>
          <p:nvPr/>
        </p:nvSpPr>
        <p:spPr>
          <a:xfrm rot="201610">
            <a:off x="8726858" y="4813445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501" name="Google Shape;501;p42" title="ChatGPT Image Apr 18, 2026, 11_47_37 AM.png"/>
          <p:cNvPicPr preferRelativeResize="0"/>
          <p:nvPr/>
        </p:nvPicPr>
        <p:blipFill rotWithShape="1">
          <a:blip r:embed="rId6">
            <a:alphaModFix/>
          </a:blip>
          <a:srcRect l="3036" t="16826" r="2961" b="18057"/>
          <a:stretch/>
        </p:blipFill>
        <p:spPr>
          <a:xfrm>
            <a:off x="2451283" y="672843"/>
            <a:ext cx="6066952" cy="401345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498;p42">
            <a:extLst>
              <a:ext uri="{FF2B5EF4-FFF2-40B4-BE49-F238E27FC236}">
                <a16:creationId xmlns:a16="http://schemas.microsoft.com/office/drawing/2014/main" id="{3D7BC83B-EEDB-2331-A9D8-C403D245AE84}"/>
              </a:ext>
            </a:extLst>
          </p:cNvPr>
          <p:cNvSpPr txBox="1"/>
          <p:nvPr/>
        </p:nvSpPr>
        <p:spPr>
          <a:xfrm>
            <a:off x="1445575" y="254734"/>
            <a:ext cx="6864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MODEL EVALUATION &amp; COMPARISON</a:t>
            </a:r>
            <a:endParaRPr sz="200" dirty="0">
              <a:solidFill>
                <a:schemeClr val="tx1"/>
              </a:solidFill>
            </a:endParaRPr>
          </a:p>
        </p:txBody>
      </p:sp>
      <p:sp>
        <p:nvSpPr>
          <p:cNvPr id="6" name="Google Shape;489;p42">
            <a:extLst>
              <a:ext uri="{FF2B5EF4-FFF2-40B4-BE49-F238E27FC236}">
                <a16:creationId xmlns:a16="http://schemas.microsoft.com/office/drawing/2014/main" id="{5CB96A7D-CD7A-AEB7-13CF-9E5A71F0A7FD}"/>
              </a:ext>
            </a:extLst>
          </p:cNvPr>
          <p:cNvSpPr/>
          <p:nvPr/>
        </p:nvSpPr>
        <p:spPr>
          <a:xfrm rot="16200000">
            <a:off x="8407077" y="1835633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7" name="Google Shape;489;p42">
            <a:extLst>
              <a:ext uri="{FF2B5EF4-FFF2-40B4-BE49-F238E27FC236}">
                <a16:creationId xmlns:a16="http://schemas.microsoft.com/office/drawing/2014/main" id="{83C5C354-B4C5-EF21-2EB0-6D8C9F0142EE}"/>
              </a:ext>
            </a:extLst>
          </p:cNvPr>
          <p:cNvSpPr/>
          <p:nvPr/>
        </p:nvSpPr>
        <p:spPr>
          <a:xfrm rot="16200000">
            <a:off x="8407076" y="271740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8" name="Google Shape;489;p42">
            <a:extLst>
              <a:ext uri="{FF2B5EF4-FFF2-40B4-BE49-F238E27FC236}">
                <a16:creationId xmlns:a16="http://schemas.microsoft.com/office/drawing/2014/main" id="{8719B420-CE88-1E59-28B9-AE0E05B9B85D}"/>
              </a:ext>
            </a:extLst>
          </p:cNvPr>
          <p:cNvSpPr/>
          <p:nvPr/>
        </p:nvSpPr>
        <p:spPr>
          <a:xfrm rot="16200000">
            <a:off x="8387189" y="3646122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3"/>
          <p:cNvSpPr txBox="1"/>
          <p:nvPr/>
        </p:nvSpPr>
        <p:spPr>
          <a:xfrm>
            <a:off x="594769" y="3461164"/>
            <a:ext cx="5987461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2100" marR="0" lvl="1" indent="-152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EF"/>
              </a:buClr>
              <a:buSzPts val="1400"/>
              <a:buFont typeface="Arial"/>
              <a:buChar char="•"/>
            </a:pPr>
            <a:r>
              <a:rPr lang="en-GB" sz="1200" b="1" i="0" u="none" strike="noStrike" cap="none" dirty="0">
                <a:solidFill>
                  <a:srgbClr val="FFFA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Confusion matrix shows correct vs misclassified predictions</a:t>
            </a:r>
            <a:endParaRPr sz="1200" dirty="0"/>
          </a:p>
          <a:p>
            <a:pPr marL="292100" marR="0" lvl="1" indent="-152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EF"/>
              </a:buClr>
              <a:buSzPts val="1400"/>
              <a:buFont typeface="Arial"/>
              <a:buChar char="•"/>
            </a:pPr>
            <a:r>
              <a:rPr lang="en-GB" sz="1200" b="1" i="0" u="none" strike="noStrike" cap="none" dirty="0">
                <a:solidFill>
                  <a:srgbClr val="FFFA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Most predictions lie on the diagonal → high accuracy</a:t>
            </a:r>
            <a:endParaRPr sz="1200" dirty="0"/>
          </a:p>
          <a:p>
            <a:pPr marL="292100" marR="0" lvl="1" indent="-152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EF"/>
              </a:buClr>
              <a:buSzPts val="1400"/>
              <a:buFont typeface="Arial"/>
              <a:buChar char="•"/>
            </a:pPr>
            <a:r>
              <a:rPr lang="en-GB" sz="1200" b="1" i="0" u="none" strike="noStrike" cap="none" dirty="0">
                <a:solidFill>
                  <a:srgbClr val="FFFA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Errors mainly occur between closely related Dravidian languages</a:t>
            </a:r>
            <a:endParaRPr sz="1200" dirty="0"/>
          </a:p>
          <a:p>
            <a:pPr marL="292100" marR="0" lvl="1" indent="-152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EF"/>
              </a:buClr>
              <a:buSzPts val="1400"/>
              <a:buFont typeface="Arial"/>
              <a:buChar char="•"/>
            </a:pPr>
            <a:r>
              <a:rPr lang="en-GB" sz="1200" b="1" i="0" u="none" strike="noStrike" cap="none" dirty="0">
                <a:solidFill>
                  <a:srgbClr val="FFFA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(Malayalam, Tamil, Kannada)</a:t>
            </a:r>
            <a:endParaRPr sz="1200" dirty="0"/>
          </a:p>
          <a:p>
            <a:pPr marL="292100" marR="0" lvl="1" indent="-152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EF"/>
              </a:buClr>
              <a:buSzPts val="1400"/>
              <a:buFont typeface="Arial"/>
              <a:buChar char="•"/>
            </a:pPr>
            <a:r>
              <a:rPr lang="en-GB" sz="1200" b="1" i="0" u="none" strike="noStrike" cap="none" dirty="0">
                <a:solidFill>
                  <a:srgbClr val="FFFAE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Confusion pattern aligns with linguistic similarity</a:t>
            </a:r>
            <a:endParaRPr sz="1200" dirty="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FFFAE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0" name="Google Shape;510;p43"/>
          <p:cNvSpPr/>
          <p:nvPr/>
        </p:nvSpPr>
        <p:spPr>
          <a:xfrm rot="10800000">
            <a:off x="344676" y="318772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11" name="Google Shape;511;p43"/>
          <p:cNvSpPr/>
          <p:nvPr/>
        </p:nvSpPr>
        <p:spPr>
          <a:xfrm rot="10800000">
            <a:off x="6091409" y="327248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13" name="Google Shape;513;p43"/>
          <p:cNvSpPr/>
          <p:nvPr/>
        </p:nvSpPr>
        <p:spPr>
          <a:xfrm rot="10800000">
            <a:off x="-370458" y="4881215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14" name="Google Shape;514;p43"/>
          <p:cNvSpPr/>
          <p:nvPr/>
        </p:nvSpPr>
        <p:spPr>
          <a:xfrm rot="10800000">
            <a:off x="5170339" y="312659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7827" r="-47371"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515" name="Google Shape;515;p43"/>
          <p:cNvSpPr/>
          <p:nvPr/>
        </p:nvSpPr>
        <p:spPr>
          <a:xfrm rot="201610">
            <a:off x="8462804" y="4722030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6" name="Google Shape;516;p43"/>
          <p:cNvSpPr/>
          <p:nvPr/>
        </p:nvSpPr>
        <p:spPr>
          <a:xfrm>
            <a:off x="647570" y="866406"/>
            <a:ext cx="7422010" cy="2372094"/>
          </a:xfrm>
          <a:custGeom>
            <a:avLst/>
            <a:gdLst/>
            <a:ahLst/>
            <a:cxnLst/>
            <a:rect l="l" t="t" r="r" b="b"/>
            <a:pathLst>
              <a:path w="12008368" h="3362343" extrusionOk="0">
                <a:moveTo>
                  <a:pt x="0" y="0"/>
                </a:moveTo>
                <a:lnTo>
                  <a:pt x="12008368" y="0"/>
                </a:lnTo>
                <a:lnTo>
                  <a:pt x="12008368" y="3362343"/>
                </a:lnTo>
                <a:lnTo>
                  <a:pt x="0" y="33623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17" name="Google Shape;517;p43"/>
          <p:cNvSpPr txBox="1"/>
          <p:nvPr/>
        </p:nvSpPr>
        <p:spPr>
          <a:xfrm>
            <a:off x="1265746" y="238969"/>
            <a:ext cx="4645508" cy="33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0" u="none" strike="noStrike" cap="none" dirty="0">
                <a:solidFill>
                  <a:srgbClr val="00BBDE"/>
                </a:solidFill>
                <a:latin typeface="Arial"/>
                <a:ea typeface="Arial"/>
                <a:cs typeface="Arial"/>
                <a:sym typeface="Arial"/>
              </a:rPr>
              <a:t>CONFUSION MATRICES</a:t>
            </a:r>
            <a:endParaRPr sz="700" dirty="0"/>
          </a:p>
        </p:txBody>
      </p:sp>
      <p:sp>
        <p:nvSpPr>
          <p:cNvPr id="2" name="Google Shape;511;p43">
            <a:extLst>
              <a:ext uri="{FF2B5EF4-FFF2-40B4-BE49-F238E27FC236}">
                <a16:creationId xmlns:a16="http://schemas.microsoft.com/office/drawing/2014/main" id="{CB7543AB-9191-B853-C10C-B89E87B461E3}"/>
              </a:ext>
            </a:extLst>
          </p:cNvPr>
          <p:cNvSpPr/>
          <p:nvPr/>
        </p:nvSpPr>
        <p:spPr>
          <a:xfrm rot="10800000">
            <a:off x="7032523" y="312660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1" y="0"/>
                </a:lnTo>
                <a:lnTo>
                  <a:pt x="1481831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D64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4"/>
          <p:cNvSpPr/>
          <p:nvPr/>
        </p:nvSpPr>
        <p:spPr>
          <a:xfrm>
            <a:off x="7225499" y="1384915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1"/>
                </a:lnTo>
                <a:lnTo>
                  <a:pt x="0" y="3574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523" name="Google Shape;523;p44"/>
          <p:cNvSpPr/>
          <p:nvPr/>
        </p:nvSpPr>
        <p:spPr>
          <a:xfrm>
            <a:off x="-584817" y="-605845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0" y="0"/>
                </a:lnTo>
                <a:lnTo>
                  <a:pt x="5066690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524" name="Google Shape;524;p44"/>
          <p:cNvSpPr/>
          <p:nvPr/>
        </p:nvSpPr>
        <p:spPr>
          <a:xfrm>
            <a:off x="311398" y="206741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25" name="Google Shape;525;p44"/>
          <p:cNvSpPr/>
          <p:nvPr/>
        </p:nvSpPr>
        <p:spPr>
          <a:xfrm rot="-5400000">
            <a:off x="8511034" y="267399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grpSp>
        <p:nvGrpSpPr>
          <p:cNvPr id="526" name="Google Shape;526;p44"/>
          <p:cNvGrpSpPr/>
          <p:nvPr/>
        </p:nvGrpSpPr>
        <p:grpSpPr>
          <a:xfrm>
            <a:off x="0" y="3173876"/>
            <a:ext cx="9212468" cy="2172117"/>
            <a:chOff x="0" y="-38100"/>
            <a:chExt cx="3151501" cy="1144183"/>
          </a:xfrm>
        </p:grpSpPr>
        <p:sp>
          <p:nvSpPr>
            <p:cNvPr id="527" name="Google Shape;527;p44"/>
            <p:cNvSpPr/>
            <p:nvPr/>
          </p:nvSpPr>
          <p:spPr>
            <a:xfrm>
              <a:off x="0" y="0"/>
              <a:ext cx="3151501" cy="1106083"/>
            </a:xfrm>
            <a:custGeom>
              <a:avLst/>
              <a:gdLst/>
              <a:ahLst/>
              <a:cxnLst/>
              <a:rect l="l" t="t" r="r" b="b"/>
              <a:pathLst>
                <a:path w="3151501" h="1106083" extrusionOk="0">
                  <a:moveTo>
                    <a:pt x="0" y="0"/>
                  </a:moveTo>
                  <a:lnTo>
                    <a:pt x="3151501" y="0"/>
                  </a:lnTo>
                  <a:lnTo>
                    <a:pt x="3151501" y="1106083"/>
                  </a:lnTo>
                  <a:lnTo>
                    <a:pt x="0" y="1106083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528" name="Google Shape;528;p44"/>
            <p:cNvSpPr txBox="1"/>
            <p:nvPr/>
          </p:nvSpPr>
          <p:spPr>
            <a:xfrm>
              <a:off x="0" y="-38100"/>
              <a:ext cx="3151501" cy="11441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9" name="Google Shape;529;p44"/>
          <p:cNvSpPr/>
          <p:nvPr/>
        </p:nvSpPr>
        <p:spPr>
          <a:xfrm>
            <a:off x="525212" y="929881"/>
            <a:ext cx="3695836" cy="2682420"/>
          </a:xfrm>
          <a:custGeom>
            <a:avLst/>
            <a:gdLst/>
            <a:ahLst/>
            <a:cxnLst/>
            <a:rect l="l" t="t" r="r" b="b"/>
            <a:pathLst>
              <a:path w="971949" h="705436" extrusionOk="0">
                <a:moveTo>
                  <a:pt x="0" y="0"/>
                </a:moveTo>
                <a:lnTo>
                  <a:pt x="971949" y="0"/>
                </a:lnTo>
                <a:lnTo>
                  <a:pt x="971949" y="705436"/>
                </a:lnTo>
                <a:lnTo>
                  <a:pt x="0" y="70543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301" b="-1301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grpSp>
        <p:nvGrpSpPr>
          <p:cNvPr id="530" name="Google Shape;530;p44"/>
          <p:cNvGrpSpPr/>
          <p:nvPr/>
        </p:nvGrpSpPr>
        <p:grpSpPr>
          <a:xfrm>
            <a:off x="-174293" y="-90868"/>
            <a:ext cx="499161" cy="5554966"/>
            <a:chOff x="0" y="-38100"/>
            <a:chExt cx="262932" cy="2782875"/>
          </a:xfrm>
        </p:grpSpPr>
        <p:sp>
          <p:nvSpPr>
            <p:cNvPr id="531" name="Google Shape;531;p44"/>
            <p:cNvSpPr/>
            <p:nvPr/>
          </p:nvSpPr>
          <p:spPr>
            <a:xfrm>
              <a:off x="0" y="0"/>
              <a:ext cx="262932" cy="2744775"/>
            </a:xfrm>
            <a:custGeom>
              <a:avLst/>
              <a:gdLst/>
              <a:ahLst/>
              <a:cxnLst/>
              <a:rect l="l" t="t" r="r" b="b"/>
              <a:pathLst>
                <a:path w="262932" h="2744775" extrusionOk="0">
                  <a:moveTo>
                    <a:pt x="0" y="0"/>
                  </a:moveTo>
                  <a:lnTo>
                    <a:pt x="262932" y="0"/>
                  </a:lnTo>
                  <a:lnTo>
                    <a:pt x="262932" y="2744775"/>
                  </a:lnTo>
                  <a:lnTo>
                    <a:pt x="0" y="27447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2" name="Google Shape;532;p44"/>
            <p:cNvSpPr txBox="1"/>
            <p:nvPr/>
          </p:nvSpPr>
          <p:spPr>
            <a:xfrm>
              <a:off x="0" y="-38100"/>
              <a:ext cx="262932" cy="2782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3" name="Google Shape;533;p44"/>
          <p:cNvSpPr/>
          <p:nvPr/>
        </p:nvSpPr>
        <p:spPr>
          <a:xfrm>
            <a:off x="4407143" y="937306"/>
            <a:ext cx="4343205" cy="2682352"/>
          </a:xfrm>
          <a:custGeom>
            <a:avLst/>
            <a:gdLst/>
            <a:ahLst/>
            <a:cxnLst/>
            <a:rect l="l" t="t" r="r" b="b"/>
            <a:pathLst>
              <a:path w="1112537" h="687100" extrusionOk="0">
                <a:moveTo>
                  <a:pt x="0" y="0"/>
                </a:moveTo>
                <a:lnTo>
                  <a:pt x="1112537" y="0"/>
                </a:lnTo>
                <a:lnTo>
                  <a:pt x="1112537" y="687100"/>
                </a:lnTo>
                <a:lnTo>
                  <a:pt x="0" y="68710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46" r="-46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34" name="Google Shape;534;p44"/>
          <p:cNvSpPr txBox="1"/>
          <p:nvPr/>
        </p:nvSpPr>
        <p:spPr>
          <a:xfrm>
            <a:off x="4572000" y="3773170"/>
            <a:ext cx="3695743" cy="1222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Shows performance vs training data size</a:t>
            </a:r>
            <a:endParaRPr sz="700" dirty="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Validation score improves as data increases</a:t>
            </a:r>
            <a:endParaRPr sz="700" dirty="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Training and validation curves are close</a:t>
            </a:r>
            <a:endParaRPr sz="700" dirty="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Indicates good generalization</a:t>
            </a:r>
            <a:endParaRPr sz="700" dirty="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evidence of severe overfitting</a:t>
            </a:r>
            <a:endParaRPr sz="700" dirty="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4"/>
          <p:cNvSpPr/>
          <p:nvPr/>
        </p:nvSpPr>
        <p:spPr>
          <a:xfrm rot="201610">
            <a:off x="8677410" y="4794973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5"/>
                </a:lnTo>
                <a:lnTo>
                  <a:pt x="0" y="636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37" name="Google Shape;537;p44"/>
          <p:cNvSpPr txBox="1"/>
          <p:nvPr/>
        </p:nvSpPr>
        <p:spPr>
          <a:xfrm>
            <a:off x="1142485" y="433023"/>
            <a:ext cx="2791439" cy="33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ROC CURVES</a:t>
            </a:r>
            <a:endParaRPr sz="700"/>
          </a:p>
        </p:txBody>
      </p:sp>
      <p:sp>
        <p:nvSpPr>
          <p:cNvPr id="538" name="Google Shape;538;p44"/>
          <p:cNvSpPr txBox="1"/>
          <p:nvPr/>
        </p:nvSpPr>
        <p:spPr>
          <a:xfrm>
            <a:off x="525262" y="3773170"/>
            <a:ext cx="3695743" cy="1017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ROC curve shows True Positive Rate vs False Positive Rate</a:t>
            </a:r>
            <a:endParaRPr sz="70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classes achieve high AUC (&gt; 0.97)</a:t>
            </a:r>
            <a:endParaRPr sz="700"/>
          </a:p>
          <a:p>
            <a:pPr marL="254000" marR="0" lvl="1" indent="-1270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lang="en-GB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SVM achieves highest Macro AUC (~0.994)</a:t>
            </a:r>
            <a:endParaRPr sz="700"/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4"/>
          <p:cNvSpPr txBox="1"/>
          <p:nvPr/>
        </p:nvSpPr>
        <p:spPr>
          <a:xfrm>
            <a:off x="4572000" y="446167"/>
            <a:ext cx="3222062" cy="33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LEARNING CURVE</a:t>
            </a:r>
            <a:endParaRPr sz="700"/>
          </a:p>
        </p:txBody>
      </p:sp>
      <p:sp>
        <p:nvSpPr>
          <p:cNvPr id="2" name="Google Shape;535;p44"/>
          <p:cNvSpPr/>
          <p:nvPr/>
        </p:nvSpPr>
        <p:spPr>
          <a:xfrm rot="5400000">
            <a:off x="-439448" y="4570996"/>
            <a:ext cx="1029469" cy="40734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t="-127827" r="-47371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4" name="Google Shape;544;p45"/>
          <p:cNvCxnSpPr/>
          <p:nvPr/>
        </p:nvCxnSpPr>
        <p:spPr>
          <a:xfrm>
            <a:off x="224365" y="659089"/>
            <a:ext cx="8695270" cy="0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45"/>
          <p:cNvCxnSpPr/>
          <p:nvPr/>
        </p:nvCxnSpPr>
        <p:spPr>
          <a:xfrm rot="10800000">
            <a:off x="4479742" y="659088"/>
            <a:ext cx="0" cy="7940123"/>
          </a:xfrm>
          <a:prstGeom prst="straightConnector1">
            <a:avLst/>
          </a:prstGeom>
          <a:noFill/>
          <a:ln w="9525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45"/>
          <p:cNvSpPr/>
          <p:nvPr/>
        </p:nvSpPr>
        <p:spPr>
          <a:xfrm rot="201610">
            <a:off x="8715554" y="4770802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48" name="Google Shape;548;p45"/>
          <p:cNvSpPr txBox="1"/>
          <p:nvPr/>
        </p:nvSpPr>
        <p:spPr>
          <a:xfrm>
            <a:off x="224365" y="80963"/>
            <a:ext cx="8695270" cy="43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 INTERPRETATION &amp; EXPLAINABILITY</a:t>
            </a:r>
            <a:endParaRPr sz="700"/>
          </a:p>
        </p:txBody>
      </p:sp>
      <p:sp>
        <p:nvSpPr>
          <p:cNvPr id="549" name="Google Shape;549;p45"/>
          <p:cNvSpPr txBox="1"/>
          <p:nvPr/>
        </p:nvSpPr>
        <p:spPr>
          <a:xfrm>
            <a:off x="360607" y="765102"/>
            <a:ext cx="2691326" cy="242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Permutation Importance</a:t>
            </a:r>
            <a:endParaRPr sz="700"/>
          </a:p>
        </p:txBody>
      </p:sp>
      <p:sp>
        <p:nvSpPr>
          <p:cNvPr id="550" name="Google Shape;550;p45"/>
          <p:cNvSpPr txBox="1"/>
          <p:nvPr/>
        </p:nvSpPr>
        <p:spPr>
          <a:xfrm>
            <a:off x="4883005" y="765102"/>
            <a:ext cx="3882472" cy="242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i="0" u="none" strike="noStrike" cap="non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Random Forest Feature Importance</a:t>
            </a:r>
            <a:endParaRPr sz="700"/>
          </a:p>
        </p:txBody>
      </p:sp>
      <p:sp>
        <p:nvSpPr>
          <p:cNvPr id="554" name="Google Shape;554;p45"/>
          <p:cNvSpPr/>
          <p:nvPr/>
        </p:nvSpPr>
        <p:spPr>
          <a:xfrm>
            <a:off x="361450" y="1121650"/>
            <a:ext cx="3223550" cy="2409073"/>
          </a:xfrm>
          <a:custGeom>
            <a:avLst/>
            <a:gdLst/>
            <a:ahLst/>
            <a:cxnLst/>
            <a:rect l="l" t="t" r="r" b="b"/>
            <a:pathLst>
              <a:path w="6646494" h="5294665" extrusionOk="0">
                <a:moveTo>
                  <a:pt x="0" y="0"/>
                </a:moveTo>
                <a:lnTo>
                  <a:pt x="6646494" y="0"/>
                </a:lnTo>
                <a:lnTo>
                  <a:pt x="6646494" y="5294664"/>
                </a:lnTo>
                <a:lnTo>
                  <a:pt x="0" y="52946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5" name="Google Shape;555;p45"/>
          <p:cNvSpPr/>
          <p:nvPr/>
        </p:nvSpPr>
        <p:spPr>
          <a:xfrm>
            <a:off x="4882999" y="1113353"/>
            <a:ext cx="3498443" cy="2785635"/>
          </a:xfrm>
          <a:custGeom>
            <a:avLst/>
            <a:gdLst/>
            <a:ahLst/>
            <a:cxnLst/>
            <a:rect l="l" t="t" r="r" b="b"/>
            <a:pathLst>
              <a:path w="6996885" h="5571269" extrusionOk="0">
                <a:moveTo>
                  <a:pt x="0" y="0"/>
                </a:moveTo>
                <a:lnTo>
                  <a:pt x="6996884" y="0"/>
                </a:lnTo>
                <a:lnTo>
                  <a:pt x="6996884" y="5571269"/>
                </a:lnTo>
                <a:lnTo>
                  <a:pt x="0" y="55712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6" name="Google Shape;556;p45"/>
          <p:cNvSpPr txBox="1"/>
          <p:nvPr/>
        </p:nvSpPr>
        <p:spPr>
          <a:xfrm>
            <a:off x="361458" y="3645024"/>
            <a:ext cx="3715800" cy="16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Shows importance of features based on model impact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features are the most influential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Delta (Δ) and Delta-Delta (ΔΔ) coefficients are highly important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Indicates the importance of temporal dynamics in langugage identification</a:t>
            </a:r>
            <a:endParaRPr sz="700"/>
          </a:p>
          <a:p>
            <a:pPr marL="0" marR="0" lvl="0" indent="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5"/>
          <p:cNvSpPr txBox="1"/>
          <p:nvPr/>
        </p:nvSpPr>
        <p:spPr>
          <a:xfrm>
            <a:off x="4882249" y="3936611"/>
            <a:ext cx="37158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Shows feature importance based on Random Forest (Gini importance)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Confirms MFCC features are most important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standard deviations (Δ, ΔΔ) rank highly</a:t>
            </a:r>
            <a:endParaRPr sz="700"/>
          </a:p>
          <a:p>
            <a:pPr marL="203200" marR="0" lvl="1" indent="-10160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Prosodic features (pitch, energy) also contribute</a:t>
            </a:r>
            <a:endParaRPr sz="700"/>
          </a:p>
          <a:p>
            <a:pPr marL="0" marR="0" lvl="0" indent="0" algn="l" rtl="0">
              <a:lnSpc>
                <a:spcPct val="15997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F31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6"/>
          <p:cNvSpPr/>
          <p:nvPr/>
        </p:nvSpPr>
        <p:spPr>
          <a:xfrm>
            <a:off x="7089816" y="-510982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2" y="0"/>
                </a:lnTo>
                <a:lnTo>
                  <a:pt x="3574272" y="3574272"/>
                </a:lnTo>
                <a:lnTo>
                  <a:pt x="0" y="3574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563" name="Google Shape;563;p46"/>
          <p:cNvSpPr/>
          <p:nvPr/>
        </p:nvSpPr>
        <p:spPr>
          <a:xfrm>
            <a:off x="-187764" y="465649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1"/>
                </a:lnTo>
                <a:lnTo>
                  <a:pt x="0" y="5066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564" name="Google Shape;564;p46"/>
          <p:cNvGrpSpPr/>
          <p:nvPr/>
        </p:nvGrpSpPr>
        <p:grpSpPr>
          <a:xfrm>
            <a:off x="2769740" y="465649"/>
            <a:ext cx="2096348" cy="4531240"/>
            <a:chOff x="-86024" y="-37752"/>
            <a:chExt cx="3237525" cy="865313"/>
          </a:xfrm>
        </p:grpSpPr>
        <p:sp>
          <p:nvSpPr>
            <p:cNvPr id="565" name="Google Shape;565;p46"/>
            <p:cNvSpPr/>
            <p:nvPr/>
          </p:nvSpPr>
          <p:spPr>
            <a:xfrm>
              <a:off x="0" y="0"/>
              <a:ext cx="3151501" cy="827561"/>
            </a:xfrm>
            <a:custGeom>
              <a:avLst/>
              <a:gdLst/>
              <a:ahLst/>
              <a:cxnLst/>
              <a:rect l="l" t="t" r="r" b="b"/>
              <a:pathLst>
                <a:path w="3151501" h="827561" extrusionOk="0">
                  <a:moveTo>
                    <a:pt x="0" y="0"/>
                  </a:moveTo>
                  <a:lnTo>
                    <a:pt x="3151501" y="0"/>
                  </a:lnTo>
                  <a:lnTo>
                    <a:pt x="3151501" y="827561"/>
                  </a:lnTo>
                  <a:lnTo>
                    <a:pt x="0" y="827561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566" name="Google Shape;566;p46"/>
            <p:cNvSpPr txBox="1"/>
            <p:nvPr/>
          </p:nvSpPr>
          <p:spPr>
            <a:xfrm>
              <a:off x="-86024" y="-37752"/>
              <a:ext cx="3151501" cy="859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p46"/>
          <p:cNvGrpSpPr/>
          <p:nvPr/>
        </p:nvGrpSpPr>
        <p:grpSpPr>
          <a:xfrm>
            <a:off x="-289449" y="-317302"/>
            <a:ext cx="499161" cy="5702357"/>
            <a:chOff x="0" y="-38100"/>
            <a:chExt cx="262932" cy="2782875"/>
          </a:xfrm>
        </p:grpSpPr>
        <p:sp>
          <p:nvSpPr>
            <p:cNvPr id="569" name="Google Shape;569;p46"/>
            <p:cNvSpPr/>
            <p:nvPr/>
          </p:nvSpPr>
          <p:spPr>
            <a:xfrm>
              <a:off x="0" y="0"/>
              <a:ext cx="262932" cy="2744775"/>
            </a:xfrm>
            <a:custGeom>
              <a:avLst/>
              <a:gdLst/>
              <a:ahLst/>
              <a:cxnLst/>
              <a:rect l="l" t="t" r="r" b="b"/>
              <a:pathLst>
                <a:path w="262932" h="2744775" extrusionOk="0">
                  <a:moveTo>
                    <a:pt x="0" y="0"/>
                  </a:moveTo>
                  <a:lnTo>
                    <a:pt x="262932" y="0"/>
                  </a:lnTo>
                  <a:lnTo>
                    <a:pt x="262932" y="2744775"/>
                  </a:lnTo>
                  <a:lnTo>
                    <a:pt x="0" y="27447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0" name="Google Shape;570;p46"/>
            <p:cNvSpPr txBox="1"/>
            <p:nvPr/>
          </p:nvSpPr>
          <p:spPr>
            <a:xfrm>
              <a:off x="0" y="-38100"/>
              <a:ext cx="262932" cy="2782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46"/>
          <p:cNvSpPr/>
          <p:nvPr/>
        </p:nvSpPr>
        <p:spPr>
          <a:xfrm>
            <a:off x="489165" y="21966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72" name="Google Shape;572;p46"/>
          <p:cNvSpPr/>
          <p:nvPr/>
        </p:nvSpPr>
        <p:spPr>
          <a:xfrm rot="-5400000">
            <a:off x="8506495" y="334507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grpSp>
        <p:nvGrpSpPr>
          <p:cNvPr id="573" name="Google Shape;573;p46"/>
          <p:cNvGrpSpPr/>
          <p:nvPr/>
        </p:nvGrpSpPr>
        <p:grpSpPr>
          <a:xfrm>
            <a:off x="2845056" y="3637411"/>
            <a:ext cx="6163041" cy="1685499"/>
            <a:chOff x="-1376157" y="-117588"/>
            <a:chExt cx="3246375" cy="887835"/>
          </a:xfrm>
        </p:grpSpPr>
        <p:sp>
          <p:nvSpPr>
            <p:cNvPr id="574" name="Google Shape;574;p46"/>
            <p:cNvSpPr/>
            <p:nvPr/>
          </p:nvSpPr>
          <p:spPr>
            <a:xfrm>
              <a:off x="-28124" y="-12981"/>
              <a:ext cx="1898342" cy="583199"/>
            </a:xfrm>
            <a:custGeom>
              <a:avLst/>
              <a:gdLst/>
              <a:ahLst/>
              <a:cxnLst/>
              <a:rect l="l" t="t" r="r" b="b"/>
              <a:pathLst>
                <a:path w="3151501" h="849735" extrusionOk="0">
                  <a:moveTo>
                    <a:pt x="0" y="0"/>
                  </a:moveTo>
                  <a:lnTo>
                    <a:pt x="3151501" y="0"/>
                  </a:lnTo>
                  <a:lnTo>
                    <a:pt x="3151501" y="849735"/>
                  </a:lnTo>
                  <a:lnTo>
                    <a:pt x="0" y="849735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75" name="Google Shape;575;p46"/>
            <p:cNvSpPr txBox="1"/>
            <p:nvPr/>
          </p:nvSpPr>
          <p:spPr>
            <a:xfrm>
              <a:off x="-1376157" y="-117588"/>
              <a:ext cx="3151501" cy="8878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6" name="Google Shape;576;p46"/>
          <p:cNvSpPr/>
          <p:nvPr/>
        </p:nvSpPr>
        <p:spPr>
          <a:xfrm>
            <a:off x="4738707" y="68876"/>
            <a:ext cx="4040311" cy="4051822"/>
          </a:xfrm>
          <a:custGeom>
            <a:avLst/>
            <a:gdLst/>
            <a:ahLst/>
            <a:cxnLst/>
            <a:rect l="l" t="t" r="r" b="b"/>
            <a:pathLst>
              <a:path w="8080622" h="8103643" extrusionOk="0">
                <a:moveTo>
                  <a:pt x="0" y="0"/>
                </a:moveTo>
                <a:lnTo>
                  <a:pt x="8080622" y="0"/>
                </a:lnTo>
                <a:lnTo>
                  <a:pt x="8080622" y="8103644"/>
                </a:lnTo>
                <a:lnTo>
                  <a:pt x="0" y="81036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78" name="Google Shape;578;p46"/>
          <p:cNvSpPr txBox="1"/>
          <p:nvPr/>
        </p:nvSpPr>
        <p:spPr>
          <a:xfrm>
            <a:off x="5466978" y="3860644"/>
            <a:ext cx="3003781" cy="106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Ranks features based on mean absolute SHAP values</a:t>
            </a:r>
            <a:endParaRPr sz="700" dirty="0"/>
          </a:p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Shows overall importance across all predictions</a:t>
            </a:r>
            <a:endParaRPr sz="700" dirty="0"/>
          </a:p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sz="1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features and pitch are most influential</a:t>
            </a:r>
            <a:endParaRPr sz="700" dirty="0"/>
          </a:p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6"/>
          <p:cNvSpPr/>
          <p:nvPr/>
        </p:nvSpPr>
        <p:spPr>
          <a:xfrm rot="201610">
            <a:off x="8496336" y="4531552"/>
            <a:ext cx="408163" cy="318367"/>
          </a:xfrm>
          <a:custGeom>
            <a:avLst/>
            <a:gdLst/>
            <a:ahLst/>
            <a:cxnLst/>
            <a:rect l="l" t="t" r="r" b="b"/>
            <a:pathLst>
              <a:path w="816326" h="636734" extrusionOk="0">
                <a:moveTo>
                  <a:pt x="0" y="0"/>
                </a:moveTo>
                <a:lnTo>
                  <a:pt x="816326" y="0"/>
                </a:lnTo>
                <a:lnTo>
                  <a:pt x="816326" y="636734"/>
                </a:lnTo>
                <a:lnTo>
                  <a:pt x="0" y="636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0" name="Google Shape;580;p46"/>
          <p:cNvSpPr/>
          <p:nvPr/>
        </p:nvSpPr>
        <p:spPr>
          <a:xfrm>
            <a:off x="443582" y="656505"/>
            <a:ext cx="2270456" cy="4333551"/>
          </a:xfrm>
          <a:custGeom>
            <a:avLst/>
            <a:gdLst/>
            <a:ahLst/>
            <a:cxnLst/>
            <a:rect l="l" t="t" r="r" b="b"/>
            <a:pathLst>
              <a:path w="4595600" h="8002682" extrusionOk="0">
                <a:moveTo>
                  <a:pt x="0" y="0"/>
                </a:moveTo>
                <a:lnTo>
                  <a:pt x="4595600" y="0"/>
                </a:lnTo>
                <a:lnTo>
                  <a:pt x="4595600" y="8002682"/>
                </a:lnTo>
                <a:lnTo>
                  <a:pt x="0" y="80026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1" name="Google Shape;581;p46"/>
          <p:cNvSpPr/>
          <p:nvPr/>
        </p:nvSpPr>
        <p:spPr>
          <a:xfrm>
            <a:off x="5457605" y="512436"/>
            <a:ext cx="3468203" cy="3246828"/>
          </a:xfrm>
          <a:custGeom>
            <a:avLst/>
            <a:gdLst/>
            <a:ahLst/>
            <a:cxnLst/>
            <a:rect l="l" t="t" r="r" b="b"/>
            <a:pathLst>
              <a:path w="6936405" h="6493656" extrusionOk="0">
                <a:moveTo>
                  <a:pt x="0" y="0"/>
                </a:moveTo>
                <a:lnTo>
                  <a:pt x="6936406" y="0"/>
                </a:lnTo>
                <a:lnTo>
                  <a:pt x="6936406" y="6493656"/>
                </a:lnTo>
                <a:lnTo>
                  <a:pt x="0" y="6493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2" name="Google Shape;582;p46"/>
          <p:cNvSpPr txBox="1"/>
          <p:nvPr/>
        </p:nvSpPr>
        <p:spPr>
          <a:xfrm>
            <a:off x="1333709" y="68876"/>
            <a:ext cx="4394638" cy="455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SHAP ANALYSIS</a:t>
            </a:r>
            <a:endParaRPr sz="700" dirty="0"/>
          </a:p>
        </p:txBody>
      </p:sp>
      <p:sp>
        <p:nvSpPr>
          <p:cNvPr id="583" name="Google Shape;583;p46"/>
          <p:cNvSpPr txBox="1"/>
          <p:nvPr/>
        </p:nvSpPr>
        <p:spPr>
          <a:xfrm>
            <a:off x="2834253" y="900412"/>
            <a:ext cx="1942617" cy="3619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MFCC dynamics dominate language discrimination</a:t>
            </a:r>
            <a:endParaRPr dirty="0"/>
          </a:p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each feature contributes to pushing the prediction toward or away from each language class.</a:t>
            </a:r>
            <a:endParaRPr dirty="0"/>
          </a:p>
          <a:p>
            <a:pPr marL="228600" marR="0" lvl="1" indent="-11430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•"/>
            </a:pPr>
            <a:r>
              <a:rPr lang="en-GB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 a global view of feature importance</a:t>
            </a:r>
            <a:endParaRPr dirty="0"/>
          </a:p>
          <a:p>
            <a:pPr marL="0" marR="0" lvl="0" indent="0" algn="l" rtl="0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7"/>
          <p:cNvSpPr/>
          <p:nvPr/>
        </p:nvSpPr>
        <p:spPr>
          <a:xfrm>
            <a:off x="7886953" y="1575341"/>
            <a:ext cx="1787135" cy="1787136"/>
          </a:xfrm>
          <a:custGeom>
            <a:avLst/>
            <a:gdLst/>
            <a:ahLst/>
            <a:cxnLst/>
            <a:rect l="l" t="t" r="r" b="b"/>
            <a:pathLst>
              <a:path w="3574271" h="3574271" extrusionOk="0">
                <a:moveTo>
                  <a:pt x="0" y="0"/>
                </a:moveTo>
                <a:lnTo>
                  <a:pt x="3574271" y="0"/>
                </a:lnTo>
                <a:lnTo>
                  <a:pt x="3574271" y="3574272"/>
                </a:lnTo>
                <a:lnTo>
                  <a:pt x="0" y="3574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sp>
        <p:nvSpPr>
          <p:cNvPr id="589" name="Google Shape;589;p47"/>
          <p:cNvSpPr/>
          <p:nvPr/>
        </p:nvSpPr>
        <p:spPr>
          <a:xfrm>
            <a:off x="2100633" y="3362478"/>
            <a:ext cx="2533346" cy="2533346"/>
          </a:xfrm>
          <a:custGeom>
            <a:avLst/>
            <a:gdLst/>
            <a:ahLst/>
            <a:cxnLst/>
            <a:rect l="l" t="t" r="r" b="b"/>
            <a:pathLst>
              <a:path w="5066691" h="5066691" extrusionOk="0">
                <a:moveTo>
                  <a:pt x="0" y="0"/>
                </a:moveTo>
                <a:lnTo>
                  <a:pt x="5066691" y="0"/>
                </a:lnTo>
                <a:lnTo>
                  <a:pt x="5066691" y="5066690"/>
                </a:lnTo>
                <a:lnTo>
                  <a:pt x="0" y="50666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3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590" name="Google Shape;590;p47"/>
          <p:cNvGrpSpPr/>
          <p:nvPr/>
        </p:nvGrpSpPr>
        <p:grpSpPr>
          <a:xfrm>
            <a:off x="-187764" y="-139614"/>
            <a:ext cx="1182811" cy="5283114"/>
            <a:chOff x="0" y="-38100"/>
            <a:chExt cx="623044" cy="2782875"/>
          </a:xfrm>
        </p:grpSpPr>
        <p:sp>
          <p:nvSpPr>
            <p:cNvPr id="591" name="Google Shape;591;p47"/>
            <p:cNvSpPr/>
            <p:nvPr/>
          </p:nvSpPr>
          <p:spPr>
            <a:xfrm>
              <a:off x="0" y="0"/>
              <a:ext cx="623044" cy="2744775"/>
            </a:xfrm>
            <a:custGeom>
              <a:avLst/>
              <a:gdLst/>
              <a:ahLst/>
              <a:cxnLst/>
              <a:rect l="l" t="t" r="r" b="b"/>
              <a:pathLst>
                <a:path w="623044" h="2744775" extrusionOk="0">
                  <a:moveTo>
                    <a:pt x="0" y="0"/>
                  </a:moveTo>
                  <a:lnTo>
                    <a:pt x="623044" y="0"/>
                  </a:lnTo>
                  <a:lnTo>
                    <a:pt x="623044" y="2744775"/>
                  </a:lnTo>
                  <a:lnTo>
                    <a:pt x="0" y="2744775"/>
                  </a:lnTo>
                  <a:close/>
                </a:path>
              </a:pathLst>
            </a:custGeom>
            <a:solidFill>
              <a:srgbClr val="1A2C48"/>
            </a:solidFill>
            <a:ln>
              <a:noFill/>
            </a:ln>
          </p:spPr>
        </p:sp>
        <p:sp>
          <p:nvSpPr>
            <p:cNvPr id="592" name="Google Shape;592;p47"/>
            <p:cNvSpPr txBox="1"/>
            <p:nvPr/>
          </p:nvSpPr>
          <p:spPr>
            <a:xfrm>
              <a:off x="0" y="-38100"/>
              <a:ext cx="623044" cy="2782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3" name="Google Shape;593;p47"/>
          <p:cNvSpPr/>
          <p:nvPr/>
        </p:nvSpPr>
        <p:spPr>
          <a:xfrm>
            <a:off x="-424803" y="361515"/>
            <a:ext cx="3160731" cy="4499332"/>
          </a:xfrm>
          <a:custGeom>
            <a:avLst/>
            <a:gdLst/>
            <a:ahLst/>
            <a:cxnLst/>
            <a:rect l="l" t="t" r="r" b="b"/>
            <a:pathLst>
              <a:path w="979360" h="1394129" extrusionOk="0">
                <a:moveTo>
                  <a:pt x="0" y="0"/>
                </a:moveTo>
                <a:lnTo>
                  <a:pt x="979360" y="0"/>
                </a:lnTo>
                <a:lnTo>
                  <a:pt x="979360" y="1394129"/>
                </a:lnTo>
                <a:lnTo>
                  <a:pt x="0" y="139412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6664" r="-56664"/>
            </a:stretch>
          </a:blipFill>
          <a:ln w="19050" cap="sq" cmpd="sng">
            <a:solidFill>
              <a:srgbClr val="161A1D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95" name="Google Shape;595;p47"/>
          <p:cNvSpPr/>
          <p:nvPr/>
        </p:nvSpPr>
        <p:spPr>
          <a:xfrm rot="-5400000">
            <a:off x="8642400" y="4641900"/>
            <a:ext cx="740915" cy="262285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2"/>
                </a:lnTo>
                <a:lnTo>
                  <a:pt x="0" y="524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96" name="Google Shape;596;p47"/>
          <p:cNvSpPr/>
          <p:nvPr/>
        </p:nvSpPr>
        <p:spPr>
          <a:xfrm>
            <a:off x="8259193" y="89327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97" name="Google Shape;597;p47"/>
          <p:cNvSpPr/>
          <p:nvPr/>
        </p:nvSpPr>
        <p:spPr>
          <a:xfrm>
            <a:off x="33184" y="4920339"/>
            <a:ext cx="740915" cy="262286"/>
          </a:xfrm>
          <a:custGeom>
            <a:avLst/>
            <a:gdLst/>
            <a:ahLst/>
            <a:cxnLst/>
            <a:rect l="l" t="t" r="r" b="b"/>
            <a:pathLst>
              <a:path w="1481830" h="524571" extrusionOk="0">
                <a:moveTo>
                  <a:pt x="0" y="0"/>
                </a:moveTo>
                <a:lnTo>
                  <a:pt x="1481830" y="0"/>
                </a:lnTo>
                <a:lnTo>
                  <a:pt x="1481830" y="524571"/>
                </a:lnTo>
                <a:lnTo>
                  <a:pt x="0" y="524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27827" r="-47371"/>
            </a:stretch>
          </a:blipFill>
          <a:ln>
            <a:noFill/>
          </a:ln>
        </p:spPr>
      </p:sp>
      <p:sp>
        <p:nvSpPr>
          <p:cNvPr id="598" name="Google Shape;598;p47"/>
          <p:cNvSpPr txBox="1"/>
          <p:nvPr/>
        </p:nvSpPr>
        <p:spPr>
          <a:xfrm>
            <a:off x="2864066" y="323415"/>
            <a:ext cx="5916455" cy="80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DEPLOYMENT – STREAMLIT WEB APP</a:t>
            </a:r>
            <a:endParaRPr sz="700"/>
          </a:p>
        </p:txBody>
      </p:sp>
      <p:sp>
        <p:nvSpPr>
          <p:cNvPr id="599" name="Google Shape;599;p47"/>
          <p:cNvSpPr txBox="1"/>
          <p:nvPr/>
        </p:nvSpPr>
        <p:spPr>
          <a:xfrm>
            <a:off x="2946244" y="1403998"/>
            <a:ext cx="4223508" cy="1134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Overview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Best-performing model (SVM with RBF kernel) deployed using Streamlit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Enables real-time language identification</a:t>
            </a:r>
            <a:endParaRPr sz="700"/>
          </a:p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7"/>
          <p:cNvSpPr txBox="1"/>
          <p:nvPr/>
        </p:nvSpPr>
        <p:spPr>
          <a:xfrm>
            <a:off x="2946244" y="2445097"/>
            <a:ext cx="4223508" cy="159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Upload audio files (WAV / MP3 / FLAC)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Visualize waveform &amp; Mel spectrogram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Display class probability predictions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Acoustic feature analysis (radar chart)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Multi-model comparison view</a:t>
            </a:r>
            <a:endParaRPr sz="700"/>
          </a:p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7"/>
          <p:cNvSpPr txBox="1"/>
          <p:nvPr/>
        </p:nvSpPr>
        <p:spPr>
          <a:xfrm>
            <a:off x="2946244" y="3955337"/>
            <a:ext cx="4223508" cy="90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 Locally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Install dependencies: pip install -r requirements.txt</a:t>
            </a:r>
            <a:endParaRPr sz="700"/>
          </a:p>
          <a:p>
            <a:pPr marL="279400" marR="0" lvl="1" indent="-14605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Char char="•"/>
            </a:pPr>
            <a:r>
              <a:rPr lang="en-GB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 application: streamlit run app.py</a:t>
            </a:r>
            <a:endParaRPr sz="700"/>
          </a:p>
          <a:p>
            <a:pPr marL="0" marR="0" lvl="0" indent="0" algn="l" rtl="0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47"/>
          <p:cNvSpPr/>
          <p:nvPr/>
        </p:nvSpPr>
        <p:spPr>
          <a:xfrm rot="201610">
            <a:off x="8736436" y="4821024"/>
            <a:ext cx="398790" cy="311057"/>
          </a:xfrm>
          <a:custGeom>
            <a:avLst/>
            <a:gdLst/>
            <a:ahLst/>
            <a:cxnLst/>
            <a:rect l="l" t="t" r="r" b="b"/>
            <a:pathLst>
              <a:path w="797581" h="622114" extrusionOk="0">
                <a:moveTo>
                  <a:pt x="0" y="0"/>
                </a:moveTo>
                <a:lnTo>
                  <a:pt x="797582" y="0"/>
                </a:lnTo>
                <a:lnTo>
                  <a:pt x="797582" y="622114"/>
                </a:lnTo>
                <a:lnTo>
                  <a:pt x="0" y="622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C48"/>
        </a:solidFill>
        <a:effectLst/>
      </p:bgPr>
    </p:bg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8"/>
          <p:cNvSpPr/>
          <p:nvPr/>
        </p:nvSpPr>
        <p:spPr>
          <a:xfrm>
            <a:off x="179422" y="302451"/>
            <a:ext cx="3827145" cy="4642485"/>
          </a:xfrm>
          <a:custGeom>
            <a:avLst/>
            <a:gdLst/>
            <a:ahLst/>
            <a:cxnLst/>
            <a:rect l="l" t="t" r="r" b="b"/>
            <a:pathLst>
              <a:path w="1185850" h="1438485" extrusionOk="0">
                <a:moveTo>
                  <a:pt x="23263" y="0"/>
                </a:moveTo>
                <a:lnTo>
                  <a:pt x="1162586" y="0"/>
                </a:lnTo>
                <a:cubicBezTo>
                  <a:pt x="1168756" y="0"/>
                  <a:pt x="1174673" y="2451"/>
                  <a:pt x="1179036" y="6814"/>
                </a:cubicBezTo>
                <a:cubicBezTo>
                  <a:pt x="1183399" y="11176"/>
                  <a:pt x="1185850" y="17094"/>
                  <a:pt x="1185850" y="23263"/>
                </a:cubicBezTo>
                <a:lnTo>
                  <a:pt x="1185850" y="1415221"/>
                </a:lnTo>
                <a:cubicBezTo>
                  <a:pt x="1185850" y="1421391"/>
                  <a:pt x="1183399" y="1427308"/>
                  <a:pt x="1179036" y="1431671"/>
                </a:cubicBezTo>
                <a:cubicBezTo>
                  <a:pt x="1174673" y="1436034"/>
                  <a:pt x="1168756" y="1438485"/>
                  <a:pt x="1162586" y="1438485"/>
                </a:cubicBezTo>
                <a:lnTo>
                  <a:pt x="23263" y="1438485"/>
                </a:lnTo>
                <a:cubicBezTo>
                  <a:pt x="17094" y="1438485"/>
                  <a:pt x="11176" y="1436034"/>
                  <a:pt x="6814" y="1431671"/>
                </a:cubicBezTo>
                <a:cubicBezTo>
                  <a:pt x="2451" y="1427308"/>
                  <a:pt x="0" y="1421391"/>
                  <a:pt x="0" y="1415221"/>
                </a:cubicBezTo>
                <a:lnTo>
                  <a:pt x="0" y="23263"/>
                </a:lnTo>
                <a:cubicBezTo>
                  <a:pt x="0" y="17094"/>
                  <a:pt x="2451" y="11176"/>
                  <a:pt x="6814" y="6814"/>
                </a:cubicBezTo>
                <a:cubicBezTo>
                  <a:pt x="11176" y="2451"/>
                  <a:pt x="17094" y="0"/>
                  <a:pt x="2326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99406" r="-44087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48"/>
          <p:cNvSpPr/>
          <p:nvPr/>
        </p:nvSpPr>
        <p:spPr>
          <a:xfrm>
            <a:off x="-1544155" y="-944136"/>
            <a:ext cx="6202671" cy="6220343"/>
          </a:xfrm>
          <a:custGeom>
            <a:avLst/>
            <a:gdLst/>
            <a:ahLst/>
            <a:cxnLst/>
            <a:rect l="l" t="t" r="r" b="b"/>
            <a:pathLst>
              <a:path w="12405342" h="12440685" extrusionOk="0">
                <a:moveTo>
                  <a:pt x="0" y="0"/>
                </a:moveTo>
                <a:lnTo>
                  <a:pt x="12405342" y="0"/>
                </a:lnTo>
                <a:lnTo>
                  <a:pt x="12405342" y="12440685"/>
                </a:lnTo>
                <a:lnTo>
                  <a:pt x="0" y="124406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11" name="Google Shape;611;p48"/>
          <p:cNvSpPr/>
          <p:nvPr/>
        </p:nvSpPr>
        <p:spPr>
          <a:xfrm>
            <a:off x="179422" y="302451"/>
            <a:ext cx="3827145" cy="4642485"/>
          </a:xfrm>
          <a:custGeom>
            <a:avLst/>
            <a:gdLst/>
            <a:ahLst/>
            <a:cxnLst/>
            <a:rect l="l" t="t" r="r" b="b"/>
            <a:pathLst>
              <a:path w="1185850" h="1438485" extrusionOk="0">
                <a:moveTo>
                  <a:pt x="23263" y="0"/>
                </a:moveTo>
                <a:lnTo>
                  <a:pt x="1162586" y="0"/>
                </a:lnTo>
                <a:cubicBezTo>
                  <a:pt x="1168756" y="0"/>
                  <a:pt x="1174673" y="2451"/>
                  <a:pt x="1179036" y="6814"/>
                </a:cubicBezTo>
                <a:cubicBezTo>
                  <a:pt x="1183399" y="11176"/>
                  <a:pt x="1185850" y="17094"/>
                  <a:pt x="1185850" y="23263"/>
                </a:cubicBezTo>
                <a:lnTo>
                  <a:pt x="1185850" y="1415221"/>
                </a:lnTo>
                <a:cubicBezTo>
                  <a:pt x="1185850" y="1421391"/>
                  <a:pt x="1183399" y="1427308"/>
                  <a:pt x="1179036" y="1431671"/>
                </a:cubicBezTo>
                <a:cubicBezTo>
                  <a:pt x="1174673" y="1436034"/>
                  <a:pt x="1168756" y="1438485"/>
                  <a:pt x="1162586" y="1438485"/>
                </a:cubicBezTo>
                <a:lnTo>
                  <a:pt x="23263" y="1438485"/>
                </a:lnTo>
                <a:cubicBezTo>
                  <a:pt x="17094" y="1438485"/>
                  <a:pt x="11176" y="1436034"/>
                  <a:pt x="6814" y="1431671"/>
                </a:cubicBezTo>
                <a:cubicBezTo>
                  <a:pt x="2451" y="1427308"/>
                  <a:pt x="0" y="1421391"/>
                  <a:pt x="0" y="1415221"/>
                </a:cubicBezTo>
                <a:lnTo>
                  <a:pt x="0" y="23263"/>
                </a:lnTo>
                <a:cubicBezTo>
                  <a:pt x="0" y="17094"/>
                  <a:pt x="2451" y="11176"/>
                  <a:pt x="6814" y="6814"/>
                </a:cubicBezTo>
                <a:cubicBezTo>
                  <a:pt x="11176" y="2451"/>
                  <a:pt x="17094" y="0"/>
                  <a:pt x="23263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0896" r="-40896"/>
            </a:stretch>
          </a:blip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48"/>
          <p:cNvSpPr txBox="1"/>
          <p:nvPr/>
        </p:nvSpPr>
        <p:spPr>
          <a:xfrm>
            <a:off x="4136249" y="354806"/>
            <a:ext cx="4528563" cy="31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FINDINGS &amp; CONCLUSION</a:t>
            </a:r>
            <a:endParaRPr sz="700"/>
          </a:p>
        </p:txBody>
      </p:sp>
      <p:sp>
        <p:nvSpPr>
          <p:cNvPr id="613" name="Google Shape;613;p48"/>
          <p:cNvSpPr txBox="1"/>
          <p:nvPr/>
        </p:nvSpPr>
        <p:spPr>
          <a:xfrm>
            <a:off x="4101087" y="973043"/>
            <a:ext cx="4598887" cy="2731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SVM (RBF) achieves best performance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→ Accuracy: 92.1%, F1-score: 0.92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MFCC dynamics (Δ, ΔΔ) are the most discriminative features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Dravidian languages show higher confusion rates 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→ due to linguistic similarity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Multi-feature approach outperforms single-feature methods</a:t>
            </a:r>
            <a:endParaRPr sz="700"/>
          </a:p>
          <a:p>
            <a:pPr marL="304800" marR="0" lvl="1" indent="-15240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All models exceed baseline (20%) and target (78% F1)</a:t>
            </a:r>
            <a:endParaRPr sz="700"/>
          </a:p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8"/>
          <p:cNvSpPr/>
          <p:nvPr/>
        </p:nvSpPr>
        <p:spPr>
          <a:xfrm rot="201610">
            <a:off x="8708748" y="4789407"/>
            <a:ext cx="398790" cy="311057"/>
          </a:xfrm>
          <a:custGeom>
            <a:avLst/>
            <a:gdLst/>
            <a:ahLst/>
            <a:cxnLst/>
            <a:rect l="l" t="t" r="r" b="b"/>
            <a:pathLst>
              <a:path w="797581" h="622114" extrusionOk="0">
                <a:moveTo>
                  <a:pt x="0" y="0"/>
                </a:moveTo>
                <a:lnTo>
                  <a:pt x="797581" y="0"/>
                </a:lnTo>
                <a:lnTo>
                  <a:pt x="797581" y="622114"/>
                </a:lnTo>
                <a:lnTo>
                  <a:pt x="0" y="622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D64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9"/>
          <p:cNvSpPr/>
          <p:nvPr/>
        </p:nvSpPr>
        <p:spPr>
          <a:xfrm>
            <a:off x="0" y="0"/>
            <a:ext cx="9205369" cy="5143500"/>
          </a:xfrm>
          <a:custGeom>
            <a:avLst/>
            <a:gdLst/>
            <a:ahLst/>
            <a:cxnLst/>
            <a:rect l="l" t="t" r="r" b="b"/>
            <a:pathLst>
              <a:path w="18410738" h="10287000" extrusionOk="0">
                <a:moveTo>
                  <a:pt x="0" y="0"/>
                </a:moveTo>
                <a:lnTo>
                  <a:pt x="18410738" y="0"/>
                </a:lnTo>
                <a:lnTo>
                  <a:pt x="18410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0" name="Google Shape;620;p49"/>
          <p:cNvSpPr/>
          <p:nvPr/>
        </p:nvSpPr>
        <p:spPr>
          <a:xfrm rot="201610">
            <a:off x="8736436" y="4821024"/>
            <a:ext cx="398790" cy="311057"/>
          </a:xfrm>
          <a:custGeom>
            <a:avLst/>
            <a:gdLst/>
            <a:ahLst/>
            <a:cxnLst/>
            <a:rect l="l" t="t" r="r" b="b"/>
            <a:pathLst>
              <a:path w="797581" h="622114" extrusionOk="0">
                <a:moveTo>
                  <a:pt x="0" y="0"/>
                </a:moveTo>
                <a:lnTo>
                  <a:pt x="797582" y="0"/>
                </a:lnTo>
                <a:lnTo>
                  <a:pt x="797582" y="622114"/>
                </a:lnTo>
                <a:lnTo>
                  <a:pt x="0" y="622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0F31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50"/>
          <p:cNvGrpSpPr/>
          <p:nvPr/>
        </p:nvGrpSpPr>
        <p:grpSpPr>
          <a:xfrm>
            <a:off x="288778" y="189097"/>
            <a:ext cx="8559387" cy="4677278"/>
            <a:chOff x="0" y="-28575"/>
            <a:chExt cx="4508500" cy="2463800"/>
          </a:xfrm>
        </p:grpSpPr>
        <p:sp>
          <p:nvSpPr>
            <p:cNvPr id="626" name="Google Shape;626;p50"/>
            <p:cNvSpPr/>
            <p:nvPr/>
          </p:nvSpPr>
          <p:spPr>
            <a:xfrm>
              <a:off x="0" y="0"/>
              <a:ext cx="4508500" cy="2435225"/>
            </a:xfrm>
            <a:custGeom>
              <a:avLst/>
              <a:gdLst/>
              <a:ahLst/>
              <a:cxnLst/>
              <a:rect l="l" t="t" r="r" b="b"/>
              <a:pathLst>
                <a:path w="4508500" h="2435225" extrusionOk="0">
                  <a:moveTo>
                    <a:pt x="4508500" y="18995"/>
                  </a:moveTo>
                  <a:lnTo>
                    <a:pt x="4508500" y="2416230"/>
                  </a:lnTo>
                  <a:cubicBezTo>
                    <a:pt x="4508500" y="2421268"/>
                    <a:pt x="4506499" y="2426099"/>
                    <a:pt x="4502936" y="2429662"/>
                  </a:cubicBezTo>
                  <a:cubicBezTo>
                    <a:pt x="4499374" y="2433224"/>
                    <a:pt x="4494543" y="2435225"/>
                    <a:pt x="4489505" y="2435225"/>
                  </a:cubicBezTo>
                  <a:lnTo>
                    <a:pt x="18995" y="2435225"/>
                  </a:lnTo>
                  <a:cubicBezTo>
                    <a:pt x="13957" y="2435225"/>
                    <a:pt x="9126" y="2433224"/>
                    <a:pt x="5563" y="2429662"/>
                  </a:cubicBezTo>
                  <a:cubicBezTo>
                    <a:pt x="2001" y="2426099"/>
                    <a:pt x="0" y="2421268"/>
                    <a:pt x="0" y="2416230"/>
                  </a:cubicBezTo>
                  <a:lnTo>
                    <a:pt x="0" y="18995"/>
                  </a:lnTo>
                  <a:cubicBezTo>
                    <a:pt x="0" y="13957"/>
                    <a:pt x="2001" y="9126"/>
                    <a:pt x="5563" y="5563"/>
                  </a:cubicBezTo>
                  <a:cubicBezTo>
                    <a:pt x="9126" y="2001"/>
                    <a:pt x="13957" y="0"/>
                    <a:pt x="18995" y="0"/>
                  </a:cubicBezTo>
                  <a:lnTo>
                    <a:pt x="4489505" y="0"/>
                  </a:lnTo>
                  <a:cubicBezTo>
                    <a:pt x="4494543" y="0"/>
                    <a:pt x="4499374" y="2001"/>
                    <a:pt x="4502936" y="5563"/>
                  </a:cubicBezTo>
                  <a:cubicBezTo>
                    <a:pt x="4506499" y="9126"/>
                    <a:pt x="4508500" y="13957"/>
                    <a:pt x="4508500" y="18995"/>
                  </a:cubicBezTo>
                  <a:close/>
                </a:path>
              </a:pathLst>
            </a:custGeom>
            <a:gradFill>
              <a:gsLst>
                <a:gs pos="0">
                  <a:srgbClr val="5DE0E6">
                    <a:alpha val="43921"/>
                  </a:srgbClr>
                </a:gs>
                <a:gs pos="100000">
                  <a:srgbClr val="004AAD">
                    <a:alpha val="43921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50"/>
            <p:cNvSpPr txBox="1"/>
            <p:nvPr/>
          </p:nvSpPr>
          <p:spPr>
            <a:xfrm>
              <a:off x="0" y="-28575"/>
              <a:ext cx="4508500" cy="246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5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8" name="Google Shape;628;p50"/>
          <p:cNvSpPr/>
          <p:nvPr/>
        </p:nvSpPr>
        <p:spPr>
          <a:xfrm>
            <a:off x="7821408" y="3395823"/>
            <a:ext cx="381296" cy="270373"/>
          </a:xfrm>
          <a:custGeom>
            <a:avLst/>
            <a:gdLst/>
            <a:ahLst/>
            <a:cxnLst/>
            <a:rect l="l" t="t" r="r" b="b"/>
            <a:pathLst>
              <a:path w="762591" h="540746" extrusionOk="0">
                <a:moveTo>
                  <a:pt x="0" y="0"/>
                </a:moveTo>
                <a:lnTo>
                  <a:pt x="762591" y="0"/>
                </a:lnTo>
                <a:lnTo>
                  <a:pt x="762591" y="540746"/>
                </a:lnTo>
                <a:lnTo>
                  <a:pt x="0" y="540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29" name="Google Shape;629;p50"/>
          <p:cNvSpPr/>
          <p:nvPr/>
        </p:nvSpPr>
        <p:spPr>
          <a:xfrm rot="10800000">
            <a:off x="903671" y="3395823"/>
            <a:ext cx="381296" cy="270373"/>
          </a:xfrm>
          <a:custGeom>
            <a:avLst/>
            <a:gdLst/>
            <a:ahLst/>
            <a:cxnLst/>
            <a:rect l="l" t="t" r="r" b="b"/>
            <a:pathLst>
              <a:path w="762591" h="540746" extrusionOk="0">
                <a:moveTo>
                  <a:pt x="0" y="0"/>
                </a:moveTo>
                <a:lnTo>
                  <a:pt x="762591" y="0"/>
                </a:lnTo>
                <a:lnTo>
                  <a:pt x="762591" y="540746"/>
                </a:lnTo>
                <a:lnTo>
                  <a:pt x="0" y="540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630" name="Google Shape;630;p50"/>
          <p:cNvCxnSpPr/>
          <p:nvPr/>
        </p:nvCxnSpPr>
        <p:spPr>
          <a:xfrm>
            <a:off x="766090" y="2925503"/>
            <a:ext cx="7559439" cy="0"/>
          </a:xfrm>
          <a:prstGeom prst="straightConnector1">
            <a:avLst/>
          </a:prstGeom>
          <a:noFill/>
          <a:ln w="571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1" name="Google Shape;631;p50"/>
          <p:cNvCxnSpPr/>
          <p:nvPr/>
        </p:nvCxnSpPr>
        <p:spPr>
          <a:xfrm>
            <a:off x="766091" y="2925503"/>
            <a:ext cx="251682" cy="0"/>
          </a:xfrm>
          <a:prstGeom prst="straightConnector1">
            <a:avLst/>
          </a:prstGeom>
          <a:noFill/>
          <a:ln w="66675" cap="flat" cmpd="sng">
            <a:solidFill>
              <a:srgbClr val="FFFFFF"/>
            </a:solidFill>
            <a:prstDash val="solid"/>
            <a:round/>
            <a:headEnd type="none" w="sm" len="sm"/>
            <a:tailEnd type="oval" w="lg" len="lg"/>
          </a:ln>
        </p:spPr>
      </p:cxnSp>
      <p:grpSp>
        <p:nvGrpSpPr>
          <p:cNvPr id="632" name="Google Shape;632;p50"/>
          <p:cNvGrpSpPr/>
          <p:nvPr/>
        </p:nvGrpSpPr>
        <p:grpSpPr>
          <a:xfrm>
            <a:off x="4470784" y="4957983"/>
            <a:ext cx="76613" cy="76613"/>
            <a:chOff x="0" y="0"/>
            <a:chExt cx="812800" cy="812800"/>
          </a:xfrm>
        </p:grpSpPr>
        <p:sp>
          <p:nvSpPr>
            <p:cNvPr id="633" name="Google Shape;633;p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5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5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5" name="Google Shape;635;p50"/>
          <p:cNvGrpSpPr/>
          <p:nvPr/>
        </p:nvGrpSpPr>
        <p:grpSpPr>
          <a:xfrm>
            <a:off x="4611336" y="4957983"/>
            <a:ext cx="76613" cy="76613"/>
            <a:chOff x="0" y="0"/>
            <a:chExt cx="812800" cy="812800"/>
          </a:xfrm>
        </p:grpSpPr>
        <p:sp>
          <p:nvSpPr>
            <p:cNvPr id="636" name="Google Shape;636;p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5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35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8" name="Google Shape;638;p50"/>
          <p:cNvGrpSpPr/>
          <p:nvPr/>
        </p:nvGrpSpPr>
        <p:grpSpPr>
          <a:xfrm>
            <a:off x="2506020" y="4300064"/>
            <a:ext cx="3841032" cy="252060"/>
            <a:chOff x="0" y="0"/>
            <a:chExt cx="10242752" cy="672160"/>
          </a:xfrm>
        </p:grpSpPr>
        <p:cxnSp>
          <p:nvCxnSpPr>
            <p:cNvPr id="639" name="Google Shape;639;p50"/>
            <p:cNvCxnSpPr/>
            <p:nvPr/>
          </p:nvCxnSpPr>
          <p:spPr>
            <a:xfrm>
              <a:off x="656884" y="336080"/>
              <a:ext cx="8614168" cy="0"/>
            </a:xfrm>
            <a:prstGeom prst="straightConnector1">
              <a:avLst/>
            </a:prstGeom>
            <a:noFill/>
            <a:ln w="762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0" name="Google Shape;640;p50"/>
            <p:cNvCxnSpPr/>
            <p:nvPr/>
          </p:nvCxnSpPr>
          <p:spPr>
            <a:xfrm>
              <a:off x="656884" y="336080"/>
              <a:ext cx="7739711" cy="0"/>
            </a:xfrm>
            <a:prstGeom prst="straightConnector1">
              <a:avLst/>
            </a:prstGeom>
            <a:noFill/>
            <a:ln w="88900" cap="flat" cmpd="sng">
              <a:solidFill>
                <a:srgbClr val="FFFFFF"/>
              </a:solidFill>
              <a:prstDash val="solid"/>
              <a:round/>
              <a:headEnd type="none" w="sm" len="sm"/>
              <a:tailEnd type="oval" w="lg" len="lg"/>
            </a:ln>
          </p:spPr>
        </p:cxnSp>
        <p:sp>
          <p:nvSpPr>
            <p:cNvPr id="641" name="Google Shape;641;p50"/>
            <p:cNvSpPr/>
            <p:nvPr/>
          </p:nvSpPr>
          <p:spPr>
            <a:xfrm>
              <a:off x="9550452" y="0"/>
              <a:ext cx="692300" cy="672160"/>
            </a:xfrm>
            <a:custGeom>
              <a:avLst/>
              <a:gdLst/>
              <a:ahLst/>
              <a:cxnLst/>
              <a:rect l="l" t="t" r="r" b="b"/>
              <a:pathLst>
                <a:path w="692300" h="672160" extrusionOk="0">
                  <a:moveTo>
                    <a:pt x="0" y="0"/>
                  </a:moveTo>
                  <a:lnTo>
                    <a:pt x="692300" y="0"/>
                  </a:lnTo>
                  <a:lnTo>
                    <a:pt x="692300" y="672160"/>
                  </a:lnTo>
                  <a:lnTo>
                    <a:pt x="0" y="6721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42" name="Google Shape;642;p50"/>
            <p:cNvSpPr/>
            <p:nvPr/>
          </p:nvSpPr>
          <p:spPr>
            <a:xfrm>
              <a:off x="0" y="0"/>
              <a:ext cx="377484" cy="672160"/>
            </a:xfrm>
            <a:custGeom>
              <a:avLst/>
              <a:gdLst/>
              <a:ahLst/>
              <a:cxnLst/>
              <a:rect l="l" t="t" r="r" b="b"/>
              <a:pathLst>
                <a:path w="377484" h="672160" extrusionOk="0">
                  <a:moveTo>
                    <a:pt x="0" y="0"/>
                  </a:moveTo>
                  <a:lnTo>
                    <a:pt x="377484" y="0"/>
                  </a:lnTo>
                  <a:lnTo>
                    <a:pt x="377484" y="672160"/>
                  </a:lnTo>
                  <a:lnTo>
                    <a:pt x="0" y="67216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r="-83399"/>
              </a:stretch>
            </a:blipFill>
            <a:ln>
              <a:noFill/>
            </a:ln>
          </p:spPr>
        </p:sp>
      </p:grpSp>
      <p:sp>
        <p:nvSpPr>
          <p:cNvPr id="643" name="Google Shape;643;p50"/>
          <p:cNvSpPr/>
          <p:nvPr/>
        </p:nvSpPr>
        <p:spPr>
          <a:xfrm>
            <a:off x="4394837" y="3282690"/>
            <a:ext cx="354326" cy="451110"/>
          </a:xfrm>
          <a:custGeom>
            <a:avLst/>
            <a:gdLst/>
            <a:ahLst/>
            <a:cxnLst/>
            <a:rect l="l" t="t" r="r" b="b"/>
            <a:pathLst>
              <a:path w="708653" h="902220" extrusionOk="0">
                <a:moveTo>
                  <a:pt x="0" y="0"/>
                </a:moveTo>
                <a:lnTo>
                  <a:pt x="708652" y="0"/>
                </a:lnTo>
                <a:lnTo>
                  <a:pt x="708652" y="902220"/>
                </a:lnTo>
                <a:lnTo>
                  <a:pt x="0" y="9022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644" name="Google Shape;644;p50"/>
          <p:cNvSpPr txBox="1"/>
          <p:nvPr/>
        </p:nvSpPr>
        <p:spPr>
          <a:xfrm>
            <a:off x="7936355" y="2987688"/>
            <a:ext cx="266349" cy="17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3:15</a:t>
            </a:r>
            <a:endParaRPr sz="700"/>
          </a:p>
        </p:txBody>
      </p:sp>
      <p:sp>
        <p:nvSpPr>
          <p:cNvPr id="645" name="Google Shape;645;p50"/>
          <p:cNvSpPr txBox="1"/>
          <p:nvPr/>
        </p:nvSpPr>
        <p:spPr>
          <a:xfrm>
            <a:off x="2233950" y="1793475"/>
            <a:ext cx="5330400" cy="25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400" b="1" i="0" u="none" strike="noStrike" cap="none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THANK YOU </a:t>
            </a:r>
            <a:endParaRPr sz="10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700" b="1" i="0" u="none" strike="noStrike" cap="none">
              <a:solidFill>
                <a:srgbClr val="FFFFFF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646" name="Google Shape;646;p50"/>
          <p:cNvSpPr txBox="1"/>
          <p:nvPr/>
        </p:nvSpPr>
        <p:spPr>
          <a:xfrm>
            <a:off x="779823" y="2987688"/>
            <a:ext cx="266349" cy="175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0:53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1154</Words>
  <Application>Microsoft Office PowerPoint</Application>
  <PresentationFormat>On-screen Show (16:9)</PresentationFormat>
  <Paragraphs>193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Open Sans</vt:lpstr>
      <vt:lpstr>Times New Roman</vt:lpstr>
      <vt:lpstr>Noto Sans</vt:lpstr>
      <vt:lpstr>Bricolage Grotesque</vt:lpstr>
      <vt:lpstr>Calibri</vt:lpstr>
      <vt:lpstr>Poppins Medium</vt:lpstr>
      <vt:lpstr>Arial</vt:lpstr>
      <vt:lpstr>Poppins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SREEKUTTY</dc:creator>
  <cp:lastModifiedBy>Sreekutty Santhosh</cp:lastModifiedBy>
  <cp:revision>1</cp:revision>
  <dcterms:modified xsi:type="dcterms:W3CDTF">2026-04-18T07:34:35Z</dcterms:modified>
</cp:coreProperties>
</file>